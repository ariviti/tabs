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charts/chart1.xml" ContentType="application/vnd.openxmlformats-officedocument.drawingml.chart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Manual (Today)</c:v>
                </c:pt>
              </c:strCache>
            </c:strRef>
          </c:tx>
          <c:spPr>
            <a:solidFill>
              <a:srgbClr val="ECEDF6"/>
            </a:solidFill>
            <a:effectLst/>
          </c:spPr>
          <c:invertIfNegative val="0"/>
          <c:dLbls>
            <c:numFmt formatCode="0&quot;h&quot;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2E2E2E"/>
                    </a:solidFill>
                    <a:latin typeface="Plus Jakarta Sans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Claims Triage</c:v>
                  </c:pt>
                  <c:pt idx="1">
                    <c:v>Document Review</c:v>
                  </c:pt>
                  <c:pt idx="2">
                    <c:v>Reconciliation</c:v>
                  </c:pt>
                  <c:pt idx="3">
                    <c:v>Customer Query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100</c:v>
                </c:pt>
                <c:pt idx="1">
                  <c:v>100</c:v>
                </c:pt>
                <c:pt idx="2">
                  <c:v>100</c:v>
                </c:pt>
                <c:pt idx="3">
                  <c:v>100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With Ariviti AI</c:v>
                </c:pt>
              </c:strCache>
            </c:strRef>
          </c:tx>
          <c:spPr>
            <a:solidFill>
              <a:srgbClr val="FF4D1C"/>
            </a:solidFill>
            <a:effectLst/>
          </c:spPr>
          <c:invertIfNegative val="0"/>
          <c:dLbls>
            <c:numFmt formatCode="0&quot;h&quot;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2E2E2E"/>
                    </a:solidFill>
                    <a:latin typeface="Plus Jakarta Sans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Claims Triage</c:v>
                  </c:pt>
                  <c:pt idx="1">
                    <c:v>Document Review</c:v>
                  </c:pt>
                  <c:pt idx="2">
                    <c:v>Reconciliation</c:v>
                  </c:pt>
                  <c:pt idx="3">
                    <c:v>Customer Query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42</c:v>
                </c:pt>
                <c:pt idx="1">
                  <c:v>35</c:v>
                </c:pt>
                <c:pt idx="2">
                  <c:v>55</c:v>
                </c:pt>
                <c:pt idx="3">
                  <c:v>30</c:v>
                </c:pt>
              </c:numCache>
            </c:numRef>
          </c:val>
        </c:ser>
        <c:dLbls>
          <c:numFmt formatCode="0&quot;h&quot;" sourceLinked="0"/>
          <c:txPr>
            <a:bodyPr/>
            <a:lstStyle/>
            <a:p>
              <a:pPr>
                <a:defRPr b="0" i="0" strike="noStrike" sz="900" u="none">
                  <a:solidFill>
                    <a:srgbClr val="2E2E2E"/>
                  </a:solidFill>
                  <a:latin typeface="Plus Jakarta Sans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6B76"/>
                </a:solidFill>
                <a:latin typeface="Plus Jakarta San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latin typeface="Plus Jakarta Sans"/>
              <a:cs typeface="Plus Jakarta Sans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1.png"/><Relationship Id="rId3" Type="http://schemas.openxmlformats.org/officeDocument/2006/relationships/image" Target="../media/image-10-1.png"/><Relationship Id="rId4" Type="http://schemas.openxmlformats.org/officeDocument/2006/relationships/image" Target="../media/image-10-1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1.png"/><Relationship Id="rId3" Type="http://schemas.openxmlformats.org/officeDocument/2006/relationships/image" Target="../media/image-13-1.png"/><Relationship Id="rId4" Type="http://schemas.openxmlformats.org/officeDocument/2006/relationships/image" Target="../media/image-13-1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1.png"/><Relationship Id="rId3" Type="http://schemas.openxmlformats.org/officeDocument/2006/relationships/image" Target="../media/image-18-1.png"/><Relationship Id="rId4" Type="http://schemas.openxmlformats.org/officeDocument/2006/relationships/image" Target="../media/image-18-4.png"/><Relationship Id="rId5" Type="http://schemas.openxmlformats.org/officeDocument/2006/relationships/image" Target="../media/image-18-4.png"/><Relationship Id="rId6" Type="http://schemas.openxmlformats.org/officeDocument/2006/relationships/image" Target="../media/image-18-4.png"/><Relationship Id="rId7" Type="http://schemas.openxmlformats.org/officeDocument/2006/relationships/image" Target="../media/image-18-4.png"/><Relationship Id="rId8" Type="http://schemas.openxmlformats.org/officeDocument/2006/relationships/image" Target="../media/image-18-1.png"/><Relationship Id="rId9" Type="http://schemas.openxmlformats.org/officeDocument/2006/relationships/image" Target="../media/image-18-1.png"/><Relationship Id="rId10" Type="http://schemas.openxmlformats.org/officeDocument/2006/relationships/image" Target="../media/image-18-1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image" Target="../media/image-1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166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91856" y="-1152144"/>
            <a:ext cx="5230368" cy="5230368"/>
          </a:xfrm>
          <a:prstGeom prst="ellipse">
            <a:avLst/>
          </a:prstGeom>
          <a:ln w="12700">
            <a:solidFill>
              <a:srgbClr val="4A4DBD"/>
            </a:solidFill>
            <a:prstDash val="sysDot"/>
          </a:ln>
        </p:spPr>
      </p:sp>
      <p:sp>
        <p:nvSpPr>
          <p:cNvPr id="3" name="Shape 1"/>
          <p:cNvSpPr/>
          <p:nvPr/>
        </p:nvSpPr>
        <p:spPr>
          <a:xfrm>
            <a:off x="8823960" y="-320040"/>
            <a:ext cx="3566160" cy="3566160"/>
          </a:xfrm>
          <a:prstGeom prst="ellipse">
            <a:avLst/>
          </a:prstGeom>
          <a:ln w="12700">
            <a:solidFill>
              <a:srgbClr val="4A4DBD"/>
            </a:solidFill>
            <a:prstDash val="sysDot"/>
          </a:ln>
        </p:spPr>
      </p:sp>
      <p:sp>
        <p:nvSpPr>
          <p:cNvPr id="4" name="Shape 2"/>
          <p:cNvSpPr/>
          <p:nvPr/>
        </p:nvSpPr>
        <p:spPr>
          <a:xfrm>
            <a:off x="9537192" y="393192"/>
            <a:ext cx="2139696" cy="2139696"/>
          </a:xfrm>
          <a:prstGeom prst="ellipse">
            <a:avLst/>
          </a:prstGeom>
          <a:ln w="12700">
            <a:solidFill>
              <a:srgbClr val="4A4DBD"/>
            </a:solidFill>
            <a:prstDash val="sysDot"/>
          </a:ln>
        </p:spPr>
      </p:sp>
      <p:sp>
        <p:nvSpPr>
          <p:cNvPr id="5" name="Shape 3"/>
          <p:cNvSpPr/>
          <p:nvPr/>
        </p:nvSpPr>
        <p:spPr>
          <a:xfrm>
            <a:off x="9966960" y="822960"/>
            <a:ext cx="320040" cy="320040"/>
          </a:xfrm>
          <a:prstGeom prst="ellipse">
            <a:avLst/>
          </a:prstGeom>
          <a:solidFill>
            <a:srgbClr val="FF4D1C"/>
          </a:solidFill>
          <a:ln/>
        </p:spPr>
      </p:sp>
      <p:sp>
        <p:nvSpPr>
          <p:cNvPr id="6" name="Shape 4"/>
          <p:cNvSpPr/>
          <p:nvPr/>
        </p:nvSpPr>
        <p:spPr>
          <a:xfrm>
            <a:off x="10972800" y="2194560"/>
            <a:ext cx="164592" cy="164592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7" name="Shape 5"/>
          <p:cNvSpPr/>
          <p:nvPr/>
        </p:nvSpPr>
        <p:spPr>
          <a:xfrm>
            <a:off x="9052560" y="2651760"/>
            <a:ext cx="109728" cy="109728"/>
          </a:xfrm>
          <a:prstGeom prst="ellipse">
            <a:avLst/>
          </a:prstGeom>
          <a:solidFill>
            <a:srgbClr val="FF4D1C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50292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4D1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</a:t>
            </a:r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riviti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8686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C6C7D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INTELLIGENCE AMPLIFIED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40080" y="2468880"/>
            <a:ext cx="86868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5600"/>
              </a:lnSpc>
              <a:buNone/>
            </a:pPr>
            <a:r>
              <a:rPr lang="en-US" sz="54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Techno-Commercial</a:t>
            </a:r>
            <a:endParaRPr lang="en-US" sz="5400" dirty="0"/>
          </a:p>
          <a:p>
            <a:pPr indent="0" marL="0">
              <a:lnSpc>
                <a:spcPts val="5600"/>
              </a:lnSpc>
              <a:buNone/>
            </a:pPr>
            <a:r>
              <a:rPr lang="en-US" sz="54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Proposal</a:t>
            </a:r>
            <a:endParaRPr lang="en-US" sz="5400" dirty="0"/>
          </a:p>
        </p:txBody>
      </p:sp>
      <p:sp>
        <p:nvSpPr>
          <p:cNvPr id="11" name="Text 9"/>
          <p:cNvSpPr/>
          <p:nvPr/>
        </p:nvSpPr>
        <p:spPr>
          <a:xfrm>
            <a:off x="658368" y="42519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6C7D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Enterprise AI Transformation — Cloud, Data &amp; Governed Intelligence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40080" y="4892040"/>
            <a:ext cx="2926080" cy="0"/>
          </a:xfrm>
          <a:prstGeom prst="line">
            <a:avLst/>
          </a:prstGeom>
          <a:noFill/>
          <a:ln w="25400">
            <a:solidFill>
              <a:srgbClr val="FF4D1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516636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FF4D1C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PREPARED FOR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40080" y="5413248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[Client Organisation]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788920" y="516636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FF4D1C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REFERENCE NO.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788920" y="5413248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ARV / PROP / 2026 / 0XX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937760" y="516636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FF4D1C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VERSION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937760" y="5413248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1.0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086600" y="516636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FF4D1C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DATE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086600" y="5413248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13 August 2026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57200" y="64739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ariviti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991295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C6C7D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Confidential · Ariviti Techno-Commercial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38160" y="0"/>
            <a:ext cx="4053535" cy="6858000"/>
          </a:xfrm>
          <a:prstGeom prst="rect">
            <a:avLst/>
          </a:prstGeom>
          <a:solidFill>
            <a:srgbClr val="F4F4F8"/>
          </a:solidFill>
          <a:ln/>
        </p:spPr>
      </p:sp>
      <p:sp>
        <p:nvSpPr>
          <p:cNvPr id="3" name="Shape 1"/>
          <p:cNvSpPr/>
          <p:nvPr/>
        </p:nvSpPr>
        <p:spPr>
          <a:xfrm>
            <a:off x="6620256" y="-192024"/>
            <a:ext cx="7242048" cy="7242048"/>
          </a:xfrm>
          <a:prstGeom prst="ellipse">
            <a:avLst/>
          </a:prstGeom>
          <a:ln w="12700">
            <a:solidFill>
              <a:srgbClr val="ECEDF6"/>
            </a:solidFill>
            <a:prstDash val="sysDot"/>
          </a:ln>
        </p:spPr>
      </p:sp>
      <p:sp>
        <p:nvSpPr>
          <p:cNvPr id="4" name="Shape 2"/>
          <p:cNvSpPr/>
          <p:nvPr/>
        </p:nvSpPr>
        <p:spPr>
          <a:xfrm>
            <a:off x="7772400" y="960120"/>
            <a:ext cx="4937760" cy="4937760"/>
          </a:xfrm>
          <a:prstGeom prst="ellipse">
            <a:avLst/>
          </a:prstGeom>
          <a:ln w="12700">
            <a:solidFill>
              <a:srgbClr val="ECEDF6"/>
            </a:solidFill>
            <a:prstDash val="sysDot"/>
          </a:ln>
        </p:spPr>
      </p:sp>
      <p:sp>
        <p:nvSpPr>
          <p:cNvPr id="5" name="Shape 3"/>
          <p:cNvSpPr/>
          <p:nvPr/>
        </p:nvSpPr>
        <p:spPr>
          <a:xfrm>
            <a:off x="8759952" y="1947672"/>
            <a:ext cx="2962656" cy="2962656"/>
          </a:xfrm>
          <a:prstGeom prst="ellipse">
            <a:avLst/>
          </a:prstGeom>
          <a:ln w="12700">
            <a:solidFill>
              <a:srgbClr val="ECEDF6"/>
            </a:solidFill>
            <a:prstDash val="sysDot"/>
          </a:ln>
        </p:spPr>
      </p:sp>
      <p:sp>
        <p:nvSpPr>
          <p:cNvPr id="6" name="Shape 4"/>
          <p:cNvSpPr/>
          <p:nvPr/>
        </p:nvSpPr>
        <p:spPr>
          <a:xfrm>
            <a:off x="9692640" y="2834640"/>
            <a:ext cx="365760" cy="365760"/>
          </a:xfrm>
          <a:prstGeom prst="ellipse">
            <a:avLst/>
          </a:prstGeom>
          <a:solidFill>
            <a:srgbClr val="FF4D1C"/>
          </a:solidFill>
          <a:ln/>
        </p:spPr>
      </p:sp>
      <p:sp>
        <p:nvSpPr>
          <p:cNvPr id="7" name="Shape 5"/>
          <p:cNvSpPr/>
          <p:nvPr/>
        </p:nvSpPr>
        <p:spPr>
          <a:xfrm>
            <a:off x="10881360" y="4206240"/>
            <a:ext cx="201168" cy="201168"/>
          </a:xfrm>
          <a:prstGeom prst="ellipse">
            <a:avLst/>
          </a:prstGeom>
          <a:solidFill>
            <a:srgbClr val="3B3EA9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50292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4D1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</a:t>
            </a:r>
            <a:pPr algn="l" indent="0" marL="0">
              <a:buNone/>
            </a:pPr>
            <a:r>
              <a:rPr lang="en-US" sz="1600" b="1" dirty="0">
                <a:solidFill>
                  <a:srgbClr val="3B3EA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riviti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23774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4D1C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COMPANY PRESENTATION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21792" y="2743200"/>
            <a:ext cx="69494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5000"/>
              </a:lnSpc>
              <a:buNone/>
            </a:pPr>
            <a:r>
              <a:rPr lang="en-US" sz="4600" b="1" dirty="0">
                <a:solidFill>
                  <a:srgbClr val="2E2E2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Governed AI</a:t>
            </a:r>
            <a:endParaRPr lang="en-US" sz="4600" dirty="0"/>
          </a:p>
          <a:p>
            <a:pPr indent="0" marL="0">
              <a:lnSpc>
                <a:spcPts val="5000"/>
              </a:lnSpc>
              <a:buNone/>
            </a:pPr>
            <a:r>
              <a:rPr lang="en-US" sz="4600" b="1" dirty="0">
                <a:solidFill>
                  <a:srgbClr val="2E2E2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Transformation</a:t>
            </a:r>
            <a:endParaRPr lang="en-US" sz="4600" dirty="0"/>
          </a:p>
        </p:txBody>
      </p:sp>
      <p:sp>
        <p:nvSpPr>
          <p:cNvPr id="11" name="Text 9"/>
          <p:cNvSpPr/>
          <p:nvPr/>
        </p:nvSpPr>
        <p:spPr>
          <a:xfrm>
            <a:off x="640080" y="4434840"/>
            <a:ext cx="6766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6B6B7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The AI Sherpas — guiding enterprises from pilot to production with clarity, evidence, and measurable outcomes.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457200" y="64739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B3EA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ariviti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991295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6B7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Confidential · Ariviti Techno-Commercial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4D1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</a:t>
            </a:r>
            <a:pPr algn="l" indent="0" marL="0">
              <a:buNone/>
            </a:pPr>
            <a:r>
              <a:rPr lang="en-US" sz="1600" b="1" dirty="0">
                <a:solidFill>
                  <a:srgbClr val="3B3EA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riviti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11368735" y="32004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3B3EA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6400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4D1C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CONTENTS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21792" y="96012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E2E2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What we'll cover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640080" y="1965960"/>
            <a:ext cx="685800" cy="6126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4D1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325880" y="1965960"/>
            <a:ext cx="4663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E2E2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Executive Summary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1325880" y="2276856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6B6B7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The opportunity, our point of view, and the outcome we are proposing.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40080" y="2624328"/>
            <a:ext cx="5349240" cy="0"/>
          </a:xfrm>
          <a:prstGeom prst="line">
            <a:avLst/>
          </a:prstGeom>
          <a:noFill/>
          <a:ln w="9525">
            <a:solidFill>
              <a:srgbClr val="E1E2E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715768"/>
            <a:ext cx="685800" cy="6126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4D1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325880" y="2715768"/>
            <a:ext cx="4663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E2E2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Understanding Your Context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1325880" y="3026664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6B6B7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Business challenge, current state, and strategic objectives.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40080" y="3374136"/>
            <a:ext cx="5349240" cy="0"/>
          </a:xfrm>
          <a:prstGeom prst="line">
            <a:avLst/>
          </a:prstGeom>
          <a:noFill/>
          <a:ln w="9525">
            <a:solidFill>
              <a:srgbClr val="E1E2E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3465576"/>
            <a:ext cx="685800" cy="6126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4D1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03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325880" y="3465576"/>
            <a:ext cx="4663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E2E2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Our Approach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1325880" y="3776472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6B6B7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Methodology, delivery model, and the BOT engagement structure.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309360" y="1965960"/>
            <a:ext cx="685800" cy="6126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4D1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04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995160" y="1965960"/>
            <a:ext cx="4663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E2E2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Solution Architecture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6995160" y="2276856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6B6B7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Technical design, platform stack, and governance framework.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309360" y="2624328"/>
            <a:ext cx="5349240" cy="0"/>
          </a:xfrm>
          <a:prstGeom prst="line">
            <a:avLst/>
          </a:prstGeom>
          <a:noFill/>
          <a:ln w="9525">
            <a:solidFill>
              <a:srgbClr val="E1E2E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09360" y="2715768"/>
            <a:ext cx="685800" cy="6126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4D1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05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6995160" y="2715768"/>
            <a:ext cx="4663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E2E2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Roadmap &amp; Timeline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6995160" y="3026664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6B6B7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Phased delivery plan across discovery, build, and scale.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309360" y="3374136"/>
            <a:ext cx="5349240" cy="0"/>
          </a:xfrm>
          <a:prstGeom prst="line">
            <a:avLst/>
          </a:prstGeom>
          <a:noFill/>
          <a:ln w="9525">
            <a:solidFill>
              <a:srgbClr val="E1E2E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09360" y="3465576"/>
            <a:ext cx="685800" cy="6126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4D1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06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6995160" y="3465576"/>
            <a:ext cx="4663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E2E2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Investment &amp; Commercials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6995160" y="3776472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6B6B7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Pricing structure, effort estimate, and payment milestones.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149340" y="1874520"/>
            <a:ext cx="0" cy="2112264"/>
          </a:xfrm>
          <a:prstGeom prst="line">
            <a:avLst/>
          </a:prstGeom>
          <a:noFill/>
          <a:ln w="9525">
            <a:solidFill>
              <a:srgbClr val="E1E2E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64739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B3EA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ariviti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8991295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6B7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Confidential · Ariviti Techno-Commercial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E2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89888" y="2450592"/>
            <a:ext cx="6437376" cy="6437376"/>
          </a:xfrm>
          <a:prstGeom prst="ellipse">
            <a:avLst/>
          </a:prstGeom>
          <a:ln w="12700">
            <a:solidFill>
              <a:srgbClr val="4A4DBD"/>
            </a:solidFill>
            <a:prstDash val="sysDot"/>
          </a:ln>
        </p:spPr>
      </p:sp>
      <p:sp>
        <p:nvSpPr>
          <p:cNvPr id="3" name="Shape 1"/>
          <p:cNvSpPr/>
          <p:nvPr/>
        </p:nvSpPr>
        <p:spPr>
          <a:xfrm>
            <a:off x="-365760" y="3474720"/>
            <a:ext cx="4389120" cy="4389120"/>
          </a:xfrm>
          <a:prstGeom prst="ellipse">
            <a:avLst/>
          </a:prstGeom>
          <a:ln w="12700">
            <a:solidFill>
              <a:srgbClr val="4A4DBD"/>
            </a:solidFill>
            <a:prstDash val="sysDot"/>
          </a:ln>
        </p:spPr>
      </p:sp>
      <p:sp>
        <p:nvSpPr>
          <p:cNvPr id="4" name="Shape 2"/>
          <p:cNvSpPr/>
          <p:nvPr/>
        </p:nvSpPr>
        <p:spPr>
          <a:xfrm>
            <a:off x="512064" y="4352544"/>
            <a:ext cx="2633472" cy="2633472"/>
          </a:xfrm>
          <a:prstGeom prst="ellipse">
            <a:avLst/>
          </a:prstGeom>
          <a:ln w="12700">
            <a:solidFill>
              <a:srgbClr val="4A4DBD"/>
            </a:solidFill>
            <a:prstDash val="sysDot"/>
          </a:ln>
        </p:spPr>
      </p:sp>
      <p:sp>
        <p:nvSpPr>
          <p:cNvPr id="5" name="Text 3"/>
          <p:cNvSpPr/>
          <p:nvPr/>
        </p:nvSpPr>
        <p:spPr>
          <a:xfrm>
            <a:off x="640080" y="45720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4D1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</a:t>
            </a:r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riviti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368735" y="32004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03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27889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4D1C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SECTION 01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21792" y="3154680"/>
            <a:ext cx="9144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Executive Summary</a:t>
            </a:r>
            <a:endParaRPr lang="en-US" sz="4400" dirty="0"/>
          </a:p>
        </p:txBody>
      </p:sp>
      <p:sp>
        <p:nvSpPr>
          <p:cNvPr id="9" name="Shape 7"/>
          <p:cNvSpPr/>
          <p:nvPr/>
        </p:nvSpPr>
        <p:spPr>
          <a:xfrm>
            <a:off x="640080" y="4251960"/>
            <a:ext cx="2194560" cy="0"/>
          </a:xfrm>
          <a:prstGeom prst="line">
            <a:avLst/>
          </a:prstGeom>
          <a:noFill/>
          <a:ln w="25400">
            <a:solidFill>
              <a:srgbClr val="FF4D1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443484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6C7D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 concise view of the opportunity, our recommendation, and the outcome we commit to delivering.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64739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ariviti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991295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C6C7D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Confidential · Ariviti Techno-Commercial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4D1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</a:t>
            </a:r>
            <a:pPr algn="l" indent="0" marL="0">
              <a:buNone/>
            </a:pPr>
            <a:r>
              <a:rPr lang="en-US" sz="1600" b="1" dirty="0">
                <a:solidFill>
                  <a:srgbClr val="3B3EA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riviti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11368735" y="32004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3B3EA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22860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4D1C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SECTION 03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21792" y="265176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E2E2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Our Approach</a:t>
            </a:r>
            <a:endParaRPr lang="en-US" sz="4000" dirty="0"/>
          </a:p>
        </p:txBody>
      </p:sp>
      <p:sp>
        <p:nvSpPr>
          <p:cNvPr id="6" name="Shape 4"/>
          <p:cNvSpPr/>
          <p:nvPr/>
        </p:nvSpPr>
        <p:spPr>
          <a:xfrm>
            <a:off x="640080" y="3904488"/>
            <a:ext cx="201168" cy="20116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3B3EA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3877056"/>
            <a:ext cx="2011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B3EA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05840" y="3831336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E2E2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Methodology &amp; Principles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" y="4407408"/>
            <a:ext cx="201168" cy="20116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3B3EA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4379976"/>
            <a:ext cx="2011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B3EA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2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05840" y="4334256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E2E2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Delivery Model (BOT)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" y="4910328"/>
            <a:ext cx="201168" cy="20116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3B3EA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4882896"/>
            <a:ext cx="2011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B3EA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3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005840" y="4837176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E2E2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Governance &amp; Risk Controls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7200" y="64739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B3EA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ariviti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991295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6B7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Confidential · Ariviti Techno-Commercial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4D1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</a:t>
            </a:r>
            <a:pPr algn="l" indent="0" marL="0">
              <a:buNone/>
            </a:pPr>
            <a:r>
              <a:rPr lang="en-US" sz="1600" b="1" dirty="0">
                <a:solidFill>
                  <a:srgbClr val="3B3EA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riviti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11368735" y="32004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3B3EA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6400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4D1C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EXECUTIVE SUMMARY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21792" y="96012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E2E2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opportunity in front of you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40080" y="1993392"/>
            <a:ext cx="54864" cy="457200"/>
          </a:xfrm>
          <a:prstGeom prst="rect">
            <a:avLst/>
          </a:prstGeom>
          <a:solidFill>
            <a:srgbClr val="FF4D1C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1920240"/>
            <a:ext cx="60350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2E2E2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Enterprises today run AI pilots that never reach production — the gap is not model quality, it is governance, integration, and change management.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" y="2999232"/>
            <a:ext cx="54864" cy="457200"/>
          </a:xfrm>
          <a:prstGeom prst="rect">
            <a:avLst/>
          </a:prstGeom>
          <a:solidFill>
            <a:srgbClr val="FF4D1C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2926080"/>
            <a:ext cx="60350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2E2E2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Ariviti closes that gap with a Build-Operate-Transfer model purpose-built for regulated, data-sensitive environments.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0080" y="4005072"/>
            <a:ext cx="54864" cy="457200"/>
          </a:xfrm>
          <a:prstGeom prst="rect">
            <a:avLst/>
          </a:prstGeom>
          <a:solidFill>
            <a:srgbClr val="FF4D1C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3931920"/>
            <a:ext cx="60350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2E2E2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Our recommendation: a 16-week phased rollout beginning with a contained, measurable pilot in the highest-friction workflow.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7315200" y="914400"/>
            <a:ext cx="4233672" cy="5212080"/>
          </a:xfrm>
          <a:prstGeom prst="rect">
            <a:avLst/>
          </a:prstGeom>
          <a:solidFill>
            <a:srgbClr val="1E1669"/>
          </a:solidFill>
          <a:ln/>
        </p:spPr>
      </p:sp>
      <p:sp>
        <p:nvSpPr>
          <p:cNvPr id="13" name="Shape 11"/>
          <p:cNvSpPr/>
          <p:nvPr/>
        </p:nvSpPr>
        <p:spPr>
          <a:xfrm>
            <a:off x="7205472" y="1261872"/>
            <a:ext cx="4425696" cy="4425696"/>
          </a:xfrm>
          <a:prstGeom prst="ellipse">
            <a:avLst/>
          </a:prstGeom>
          <a:ln w="12700">
            <a:solidFill>
              <a:srgbClr val="4A4DBD"/>
            </a:solidFill>
            <a:prstDash val="sysDot"/>
          </a:ln>
        </p:spPr>
      </p:sp>
      <p:sp>
        <p:nvSpPr>
          <p:cNvPr id="14" name="Shape 12"/>
          <p:cNvSpPr/>
          <p:nvPr/>
        </p:nvSpPr>
        <p:spPr>
          <a:xfrm>
            <a:off x="7909560" y="1965960"/>
            <a:ext cx="3017520" cy="3017520"/>
          </a:xfrm>
          <a:prstGeom prst="ellipse">
            <a:avLst/>
          </a:prstGeom>
          <a:ln w="12700">
            <a:solidFill>
              <a:srgbClr val="4A4DBD"/>
            </a:solidFill>
            <a:prstDash val="sysDot"/>
          </a:ln>
        </p:spPr>
      </p:sp>
      <p:sp>
        <p:nvSpPr>
          <p:cNvPr id="15" name="Shape 13"/>
          <p:cNvSpPr/>
          <p:nvPr/>
        </p:nvSpPr>
        <p:spPr>
          <a:xfrm>
            <a:off x="8513064" y="2569464"/>
            <a:ext cx="1810512" cy="1810512"/>
          </a:xfrm>
          <a:prstGeom prst="ellipse">
            <a:avLst/>
          </a:prstGeom>
          <a:ln w="12700">
            <a:solidFill>
              <a:srgbClr val="4A4DBD"/>
            </a:solidFill>
            <a:prstDash val="sysDot"/>
          </a:ln>
        </p:spPr>
      </p:sp>
      <p:sp>
        <p:nvSpPr>
          <p:cNvPr id="16" name="Text 14"/>
          <p:cNvSpPr/>
          <p:nvPr/>
        </p:nvSpPr>
        <p:spPr>
          <a:xfrm>
            <a:off x="7635240" y="237744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38%</a:t>
            </a:r>
            <a:endParaRPr lang="en-US" sz="4800" dirty="0"/>
          </a:p>
        </p:txBody>
      </p:sp>
      <p:sp>
        <p:nvSpPr>
          <p:cNvPr id="17" name="Text 15"/>
          <p:cNvSpPr/>
          <p:nvPr/>
        </p:nvSpPr>
        <p:spPr>
          <a:xfrm>
            <a:off x="7635240" y="324612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C6C7D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of enterprise AI pilots reach production without a governed operating model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7635240" y="4297680"/>
            <a:ext cx="3291840" cy="0"/>
          </a:xfrm>
          <a:prstGeom prst="line">
            <a:avLst/>
          </a:prstGeom>
          <a:noFill/>
          <a:ln w="12700">
            <a:solidFill>
              <a:srgbClr val="4A4DB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635240" y="44348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C6C7D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Source: Ariviti Enterprise AI Adoption Study, 2026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57200" y="64739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B3EA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ariviti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8991295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6B7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Confidential · Ariviti Techno-Commercial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4D1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</a:t>
            </a:r>
            <a:pPr algn="l" indent="0" marL="0">
              <a:buNone/>
            </a:pPr>
            <a:r>
              <a:rPr lang="en-US" sz="1600" b="1" dirty="0">
                <a:solidFill>
                  <a:srgbClr val="3B3EA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riviti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11368735" y="32004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3B3EA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6400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4D1C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WHY ARIVITI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21792" y="96012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E2E2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Guided intelligence, engineered for outcomes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640080" y="1965960"/>
            <a:ext cx="566928" cy="566928"/>
          </a:xfrm>
          <a:prstGeom prst="ellipse">
            <a:avLst/>
          </a:prstGeom>
          <a:solidFill>
            <a:srgbClr val="F4F4F8"/>
          </a:solidFill>
          <a:ln/>
        </p:spPr>
      </p:sp>
      <p:pic>
        <p:nvPicPr>
          <p:cNvPr id="7" name="Image 0" descr="/home/claude/work/icons/target_indi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2103120"/>
            <a:ext cx="292608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17320" y="1947672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2E2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Outcome-first delivery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417320" y="2267712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B6B7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Every engagement is scoped against a measurable business KPI, not a technology checklist.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40080" y="2953512"/>
            <a:ext cx="10881360" cy="0"/>
          </a:xfrm>
          <a:prstGeom prst="line">
            <a:avLst/>
          </a:prstGeom>
          <a:noFill/>
          <a:ln w="9525">
            <a:solidFill>
              <a:srgbClr val="E1E2EC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40080" y="3063240"/>
            <a:ext cx="566928" cy="566928"/>
          </a:xfrm>
          <a:prstGeom prst="ellipse">
            <a:avLst/>
          </a:prstGeom>
          <a:solidFill>
            <a:srgbClr val="F4F4F8"/>
          </a:solidFill>
          <a:ln/>
        </p:spPr>
      </p:sp>
      <p:pic>
        <p:nvPicPr>
          <p:cNvPr id="12" name="Image 1" descr="/home/claude/work/icons/shield_indi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3200400"/>
            <a:ext cx="292608" cy="29260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417320" y="3044952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2E2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Governance by design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1417320" y="3364992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B6B7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Model risk, data lineage, and access controls are built into the architecture from day one, not retrofitted.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640080" y="4050792"/>
            <a:ext cx="10881360" cy="0"/>
          </a:xfrm>
          <a:prstGeom prst="line">
            <a:avLst/>
          </a:prstGeom>
          <a:noFill/>
          <a:ln w="9525">
            <a:solidFill>
              <a:srgbClr val="E1E2EC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640080" y="4160520"/>
            <a:ext cx="566928" cy="566928"/>
          </a:xfrm>
          <a:prstGeom prst="ellipse">
            <a:avLst/>
          </a:prstGeom>
          <a:solidFill>
            <a:srgbClr val="F4F4F8"/>
          </a:solidFill>
          <a:ln/>
        </p:spPr>
      </p:sp>
      <p:pic>
        <p:nvPicPr>
          <p:cNvPr id="17" name="Image 2" descr="/home/claude/work/icons/users_indig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4297680"/>
            <a:ext cx="292608" cy="29260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417320" y="4142232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2E2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Human-led, AI-accelerated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1417320" y="4462272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B6B7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Domain experts remain the decision-makers; AI compresses the time to insight and action.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640080" y="5148072"/>
            <a:ext cx="10881360" cy="0"/>
          </a:xfrm>
          <a:prstGeom prst="line">
            <a:avLst/>
          </a:prstGeom>
          <a:noFill/>
          <a:ln w="9525">
            <a:solidFill>
              <a:srgbClr val="E1E2EC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640080" y="5257800"/>
            <a:ext cx="566928" cy="566928"/>
          </a:xfrm>
          <a:prstGeom prst="ellipse">
            <a:avLst/>
          </a:prstGeom>
          <a:solidFill>
            <a:srgbClr val="F4F4F8"/>
          </a:solidFill>
          <a:ln/>
        </p:spPr>
      </p:sp>
      <p:pic>
        <p:nvPicPr>
          <p:cNvPr id="22" name="Image 3" descr="/home/claude/work/icons/trend_indi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5394960"/>
            <a:ext cx="292608" cy="29260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417320" y="5239512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2E2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Built to scale</a:t>
            </a:r>
            <a:endParaRPr lang="en-US" sz="1500" dirty="0"/>
          </a:p>
        </p:txBody>
      </p:sp>
      <p:sp>
        <p:nvSpPr>
          <p:cNvPr id="24" name="Text 18"/>
          <p:cNvSpPr/>
          <p:nvPr/>
        </p:nvSpPr>
        <p:spPr>
          <a:xfrm>
            <a:off x="1417320" y="5559552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B6B7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Reference architectures and reusable accelerators cut time-to-production by up to 40%.</a:t>
            </a:r>
            <a:endParaRPr lang="en-US" sz="1150" dirty="0"/>
          </a:p>
        </p:txBody>
      </p:sp>
      <p:sp>
        <p:nvSpPr>
          <p:cNvPr id="25" name="Text 19"/>
          <p:cNvSpPr/>
          <p:nvPr/>
        </p:nvSpPr>
        <p:spPr>
          <a:xfrm>
            <a:off x="457200" y="64739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B3EA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ariviti</a:t>
            </a:r>
            <a:endParaRPr lang="en-US" sz="1000" dirty="0"/>
          </a:p>
        </p:txBody>
      </p:sp>
      <p:sp>
        <p:nvSpPr>
          <p:cNvPr id="26" name="Text 20"/>
          <p:cNvSpPr/>
          <p:nvPr/>
        </p:nvSpPr>
        <p:spPr>
          <a:xfrm>
            <a:off x="8991295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6B7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Confidential · Ariviti Techno-Commercial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4D1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</a:t>
            </a:r>
            <a:pPr algn="l" indent="0" marL="0">
              <a:buNone/>
            </a:pPr>
            <a:r>
              <a:rPr lang="en-US" sz="1600" b="1" dirty="0">
                <a:solidFill>
                  <a:srgbClr val="3B3EA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riviti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11368735" y="32004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3B3EA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07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6400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4D1C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SOLUTION FRAMEWORK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21792" y="9601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E2E2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Four pillars of the operating model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640080" y="1965960"/>
            <a:ext cx="5166360" cy="1965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E1669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240280"/>
            <a:ext cx="502920" cy="502920"/>
          </a:xfrm>
          <a:prstGeom prst="ellipse">
            <a:avLst/>
          </a:prstGeom>
          <a:solidFill>
            <a:srgbClr val="F4F4F8"/>
          </a:solidFill>
          <a:ln/>
        </p:spPr>
      </p:sp>
      <p:pic>
        <p:nvPicPr>
          <p:cNvPr id="8" name="Image 0" descr="/home/claude/work/icons/cpu_indi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" y="2368296"/>
            <a:ext cx="256032" cy="25603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14400" y="2880360"/>
            <a:ext cx="4617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2E2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Platform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914400" y="3200400"/>
            <a:ext cx="4617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6B6B7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 modular AI/data platform integrated with existing enterprise systems via governed APIs.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6355080" y="1965960"/>
            <a:ext cx="5166360" cy="1965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E1669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629400" y="2240280"/>
            <a:ext cx="502920" cy="502920"/>
          </a:xfrm>
          <a:prstGeom prst="ellipse">
            <a:avLst/>
          </a:prstGeom>
          <a:solidFill>
            <a:srgbClr val="F4F4F8"/>
          </a:solidFill>
          <a:ln/>
        </p:spPr>
      </p:sp>
      <p:pic>
        <p:nvPicPr>
          <p:cNvPr id="13" name="Image 1" descr="/home/claude/work/icons/database_indi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57416" y="2368296"/>
            <a:ext cx="256032" cy="25603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6629400" y="2880360"/>
            <a:ext cx="4617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2E2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Data Foundation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6629400" y="3200400"/>
            <a:ext cx="4617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6B6B7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Unified, quality-scored data pipelines feeding every downstream model and workflow.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640080" y="4251960"/>
            <a:ext cx="5166360" cy="1965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E1669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914400" y="4526280"/>
            <a:ext cx="502920" cy="502920"/>
          </a:xfrm>
          <a:prstGeom prst="ellipse">
            <a:avLst/>
          </a:prstGeom>
          <a:solidFill>
            <a:srgbClr val="F4F4F8"/>
          </a:solidFill>
          <a:ln/>
        </p:spPr>
      </p:sp>
      <p:pic>
        <p:nvPicPr>
          <p:cNvPr id="18" name="Image 2" descr="/home/claude/work/icons/shield_indig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2416" y="4654296"/>
            <a:ext cx="256032" cy="25603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914400" y="5166360"/>
            <a:ext cx="4617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2E2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Governance</a:t>
            </a:r>
            <a:endParaRPr lang="en-US" sz="1500" dirty="0"/>
          </a:p>
        </p:txBody>
      </p:sp>
      <p:sp>
        <p:nvSpPr>
          <p:cNvPr id="20" name="Text 15"/>
          <p:cNvSpPr/>
          <p:nvPr/>
        </p:nvSpPr>
        <p:spPr>
          <a:xfrm>
            <a:off x="914400" y="5486400"/>
            <a:ext cx="4617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6B6B7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Model risk management, audit trails, and human-in-the-loop approval gates.</a:t>
            </a:r>
            <a:endParaRPr lang="en-US" sz="1050" dirty="0"/>
          </a:p>
        </p:txBody>
      </p:sp>
      <p:sp>
        <p:nvSpPr>
          <p:cNvPr id="21" name="Shape 16"/>
          <p:cNvSpPr/>
          <p:nvPr/>
        </p:nvSpPr>
        <p:spPr>
          <a:xfrm>
            <a:off x="6355080" y="4251960"/>
            <a:ext cx="5166360" cy="1965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E1669">
                <a:alpha val="12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6629400" y="4526280"/>
            <a:ext cx="502920" cy="502920"/>
          </a:xfrm>
          <a:prstGeom prst="ellipse">
            <a:avLst/>
          </a:prstGeom>
          <a:solidFill>
            <a:srgbClr val="F4F4F8"/>
          </a:solidFill>
          <a:ln/>
        </p:spPr>
      </p:sp>
      <p:pic>
        <p:nvPicPr>
          <p:cNvPr id="23" name="Image 3" descr="/home/claude/work/icons/users_indi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57416" y="4654296"/>
            <a:ext cx="256032" cy="256032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6629400" y="5166360"/>
            <a:ext cx="4617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2E2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Adoption</a:t>
            </a:r>
            <a:endParaRPr lang="en-US" sz="1500" dirty="0"/>
          </a:p>
        </p:txBody>
      </p:sp>
      <p:sp>
        <p:nvSpPr>
          <p:cNvPr id="25" name="Text 19"/>
          <p:cNvSpPr/>
          <p:nvPr/>
        </p:nvSpPr>
        <p:spPr>
          <a:xfrm>
            <a:off x="6629400" y="5486400"/>
            <a:ext cx="4617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6B6B7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Structured change management, training, and a champions network within your teams.</a:t>
            </a:r>
            <a:endParaRPr lang="en-US" sz="1050" dirty="0"/>
          </a:p>
        </p:txBody>
      </p:sp>
      <p:sp>
        <p:nvSpPr>
          <p:cNvPr id="26" name="Text 20"/>
          <p:cNvSpPr/>
          <p:nvPr/>
        </p:nvSpPr>
        <p:spPr>
          <a:xfrm>
            <a:off x="457200" y="64739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B3EA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ariviti</a:t>
            </a:r>
            <a:endParaRPr lang="en-US" sz="1000" dirty="0"/>
          </a:p>
        </p:txBody>
      </p:sp>
      <p:sp>
        <p:nvSpPr>
          <p:cNvPr id="27" name="Text 21"/>
          <p:cNvSpPr/>
          <p:nvPr/>
        </p:nvSpPr>
        <p:spPr>
          <a:xfrm>
            <a:off x="8991295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6B7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Confidential · Ariviti Techno-Commercial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166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4D1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</a:t>
            </a:r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riviti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11368735" y="32004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08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6400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4D1C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IMPACT WE TARGET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21792" y="96012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What success looks like in 12 months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40080" y="2194560"/>
            <a:ext cx="2514600" cy="2834640"/>
          </a:xfrm>
          <a:prstGeom prst="rect">
            <a:avLst/>
          </a:prstGeom>
          <a:solidFill>
            <a:srgbClr val="2A2C8C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2194560"/>
            <a:ext cx="2514600" cy="54864"/>
          </a:xfrm>
          <a:prstGeom prst="rect">
            <a:avLst/>
          </a:prstGeom>
          <a:solidFill>
            <a:srgbClr val="FF4D1C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2697480"/>
            <a:ext cx="2057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40%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868680" y="3611880"/>
            <a:ext cx="2057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C6C7D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reduction in manual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C6C7D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processing time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410712" y="2194560"/>
            <a:ext cx="2514600" cy="2834640"/>
          </a:xfrm>
          <a:prstGeom prst="rect">
            <a:avLst/>
          </a:prstGeom>
          <a:solidFill>
            <a:srgbClr val="2A2C8C"/>
          </a:solidFill>
          <a:ln/>
        </p:spPr>
      </p:sp>
      <p:sp>
        <p:nvSpPr>
          <p:cNvPr id="11" name="Shape 9"/>
          <p:cNvSpPr/>
          <p:nvPr/>
        </p:nvSpPr>
        <p:spPr>
          <a:xfrm>
            <a:off x="3410712" y="2194560"/>
            <a:ext cx="2514600" cy="54864"/>
          </a:xfrm>
          <a:prstGeom prst="rect">
            <a:avLst/>
          </a:prstGeom>
          <a:solidFill>
            <a:srgbClr val="FF4D1C"/>
          </a:solidFill>
          <a:ln/>
        </p:spPr>
      </p:sp>
      <p:sp>
        <p:nvSpPr>
          <p:cNvPr id="12" name="Text 10"/>
          <p:cNvSpPr/>
          <p:nvPr/>
        </p:nvSpPr>
        <p:spPr>
          <a:xfrm>
            <a:off x="3639312" y="2697480"/>
            <a:ext cx="2057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3.2x</a:t>
            </a:r>
            <a:endParaRPr lang="en-US" sz="3800" dirty="0"/>
          </a:p>
        </p:txBody>
      </p:sp>
      <p:sp>
        <p:nvSpPr>
          <p:cNvPr id="13" name="Text 11"/>
          <p:cNvSpPr/>
          <p:nvPr/>
        </p:nvSpPr>
        <p:spPr>
          <a:xfrm>
            <a:off x="3639312" y="3611880"/>
            <a:ext cx="2057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C6C7D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ROI within the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C6C7D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first delivery cycle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181344" y="2194560"/>
            <a:ext cx="2514600" cy="2834640"/>
          </a:xfrm>
          <a:prstGeom prst="rect">
            <a:avLst/>
          </a:prstGeom>
          <a:solidFill>
            <a:srgbClr val="2A2C8C"/>
          </a:solidFill>
          <a:ln/>
        </p:spPr>
      </p:sp>
      <p:sp>
        <p:nvSpPr>
          <p:cNvPr id="15" name="Shape 13"/>
          <p:cNvSpPr/>
          <p:nvPr/>
        </p:nvSpPr>
        <p:spPr>
          <a:xfrm>
            <a:off x="6181344" y="2194560"/>
            <a:ext cx="2514600" cy="54864"/>
          </a:xfrm>
          <a:prstGeom prst="rect">
            <a:avLst/>
          </a:prstGeom>
          <a:solidFill>
            <a:srgbClr val="FF4D1C"/>
          </a:solidFill>
          <a:ln/>
        </p:spPr>
      </p:sp>
      <p:sp>
        <p:nvSpPr>
          <p:cNvPr id="16" name="Text 14"/>
          <p:cNvSpPr/>
          <p:nvPr/>
        </p:nvSpPr>
        <p:spPr>
          <a:xfrm>
            <a:off x="6409944" y="2697480"/>
            <a:ext cx="2057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&lt;8 wks</a:t>
            </a:r>
            <a:endParaRPr lang="en-US" sz="3800" dirty="0"/>
          </a:p>
        </p:txBody>
      </p:sp>
      <p:sp>
        <p:nvSpPr>
          <p:cNvPr id="17" name="Text 15"/>
          <p:cNvSpPr/>
          <p:nvPr/>
        </p:nvSpPr>
        <p:spPr>
          <a:xfrm>
            <a:off x="6409944" y="3611880"/>
            <a:ext cx="2057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C6C7D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from kickoff to first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C6C7D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production workflow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951976" y="2194560"/>
            <a:ext cx="2514600" cy="2834640"/>
          </a:xfrm>
          <a:prstGeom prst="rect">
            <a:avLst/>
          </a:prstGeom>
          <a:solidFill>
            <a:srgbClr val="2A2C8C"/>
          </a:solidFill>
          <a:ln/>
        </p:spPr>
      </p:sp>
      <p:sp>
        <p:nvSpPr>
          <p:cNvPr id="19" name="Shape 17"/>
          <p:cNvSpPr/>
          <p:nvPr/>
        </p:nvSpPr>
        <p:spPr>
          <a:xfrm>
            <a:off x="8951976" y="2194560"/>
            <a:ext cx="2514600" cy="54864"/>
          </a:xfrm>
          <a:prstGeom prst="rect">
            <a:avLst/>
          </a:prstGeom>
          <a:solidFill>
            <a:srgbClr val="FF4D1C"/>
          </a:solidFill>
          <a:ln/>
        </p:spPr>
      </p:sp>
      <p:sp>
        <p:nvSpPr>
          <p:cNvPr id="20" name="Text 18"/>
          <p:cNvSpPr/>
          <p:nvPr/>
        </p:nvSpPr>
        <p:spPr>
          <a:xfrm>
            <a:off x="9180576" y="2697480"/>
            <a:ext cx="2057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99.5%</a:t>
            </a:r>
            <a:endParaRPr lang="en-US" sz="3800" dirty="0"/>
          </a:p>
        </p:txBody>
      </p:sp>
      <p:sp>
        <p:nvSpPr>
          <p:cNvPr id="21" name="Text 19"/>
          <p:cNvSpPr/>
          <p:nvPr/>
        </p:nvSpPr>
        <p:spPr>
          <a:xfrm>
            <a:off x="9180576" y="3611880"/>
            <a:ext cx="2057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C6C7D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model governance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C6C7D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audit compliance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40080" y="53492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C6C7D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Indicative targets — finalised jointly during the discovery phase against your baseline metrics.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57200" y="64739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ariviti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991295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C6C7D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Confidential · Ariviti Techno-Commercial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4D1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</a:t>
            </a:r>
            <a:pPr algn="l" indent="0" marL="0">
              <a:buNone/>
            </a:pPr>
            <a:r>
              <a:rPr lang="en-US" sz="1600" b="1" dirty="0">
                <a:solidFill>
                  <a:srgbClr val="3B3EA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riviti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11368735" y="32004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3B3EA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09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6400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4D1C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THE SHIFT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21792" y="96012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E2E2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From ad-hoc pilots to governed production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640080" y="1965960"/>
            <a:ext cx="5257800" cy="4206240"/>
          </a:xfrm>
          <a:prstGeom prst="rect">
            <a:avLst/>
          </a:prstGeom>
          <a:solidFill>
            <a:srgbClr val="F4F4F8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22860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B6B7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TODAY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005840" y="2807208"/>
            <a:ext cx="146304" cy="146304"/>
          </a:xfrm>
          <a:prstGeom prst="ellipse">
            <a:avLst/>
          </a:prstGeom>
          <a:solidFill>
            <a:srgbClr val="6B6B76"/>
          </a:solidFill>
          <a:ln/>
        </p:spPr>
      </p:sp>
      <p:sp>
        <p:nvSpPr>
          <p:cNvPr id="9" name="Text 7"/>
          <p:cNvSpPr/>
          <p:nvPr/>
        </p:nvSpPr>
        <p:spPr>
          <a:xfrm>
            <a:off x="1325880" y="2697480"/>
            <a:ext cx="4251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2E2E2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Isolated pilots across business units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005840" y="3584448"/>
            <a:ext cx="146304" cy="146304"/>
          </a:xfrm>
          <a:prstGeom prst="ellipse">
            <a:avLst/>
          </a:prstGeom>
          <a:solidFill>
            <a:srgbClr val="6B6B76"/>
          </a:solidFill>
          <a:ln/>
        </p:spPr>
      </p:sp>
      <p:sp>
        <p:nvSpPr>
          <p:cNvPr id="11" name="Text 9"/>
          <p:cNvSpPr/>
          <p:nvPr/>
        </p:nvSpPr>
        <p:spPr>
          <a:xfrm>
            <a:off x="1325880" y="3474720"/>
            <a:ext cx="4251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2E2E2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No shared data or model governance layer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1005840" y="4361688"/>
            <a:ext cx="146304" cy="146304"/>
          </a:xfrm>
          <a:prstGeom prst="ellipse">
            <a:avLst/>
          </a:prstGeom>
          <a:solidFill>
            <a:srgbClr val="6B6B76"/>
          </a:solidFill>
          <a:ln/>
        </p:spPr>
      </p:sp>
      <p:sp>
        <p:nvSpPr>
          <p:cNvPr id="13" name="Text 11"/>
          <p:cNvSpPr/>
          <p:nvPr/>
        </p:nvSpPr>
        <p:spPr>
          <a:xfrm>
            <a:off x="1325880" y="4251960"/>
            <a:ext cx="4251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2E2E2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Manual approvals slow every deployment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1005840" y="5138928"/>
            <a:ext cx="146304" cy="146304"/>
          </a:xfrm>
          <a:prstGeom prst="ellipse">
            <a:avLst/>
          </a:prstGeom>
          <a:solidFill>
            <a:srgbClr val="6B6B76"/>
          </a:solidFill>
          <a:ln/>
        </p:spPr>
      </p:sp>
      <p:sp>
        <p:nvSpPr>
          <p:cNvPr id="15" name="Text 13"/>
          <p:cNvSpPr/>
          <p:nvPr/>
        </p:nvSpPr>
        <p:spPr>
          <a:xfrm>
            <a:off x="1325880" y="5029200"/>
            <a:ext cx="4251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2E2E2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Success measured by demos, not KPIs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263640" y="1965960"/>
            <a:ext cx="5257800" cy="4206240"/>
          </a:xfrm>
          <a:prstGeom prst="rect">
            <a:avLst/>
          </a:prstGeom>
          <a:solidFill>
            <a:srgbClr val="3B3EA9"/>
          </a:solidFill>
          <a:ln/>
        </p:spPr>
      </p:sp>
      <p:sp>
        <p:nvSpPr>
          <p:cNvPr id="17" name="Text 15"/>
          <p:cNvSpPr/>
          <p:nvPr/>
        </p:nvSpPr>
        <p:spPr>
          <a:xfrm>
            <a:off x="6629400" y="22860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WITH ARIVITI</a:t>
            </a:r>
            <a:endParaRPr lang="en-US" sz="1100" dirty="0"/>
          </a:p>
        </p:txBody>
      </p:sp>
      <p:pic>
        <p:nvPicPr>
          <p:cNvPr id="18" name="Image 0" descr="/home/claude/work/icons/check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1112" y="2770632"/>
            <a:ext cx="201168" cy="201168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6949440" y="2697480"/>
            <a:ext cx="4251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One governed platform across all use cases</a:t>
            </a:r>
            <a:endParaRPr lang="en-US" sz="1200" dirty="0"/>
          </a:p>
        </p:txBody>
      </p:sp>
      <p:pic>
        <p:nvPicPr>
          <p:cNvPr id="20" name="Image 1" descr="/home/claude/work/icons/check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1112" y="3547872"/>
            <a:ext cx="201168" cy="201168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6949440" y="3474720"/>
            <a:ext cx="4251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Unified data lineage and model risk controls</a:t>
            </a:r>
            <a:endParaRPr lang="en-US" sz="1200" dirty="0"/>
          </a:p>
        </p:txBody>
      </p:sp>
      <p:pic>
        <p:nvPicPr>
          <p:cNvPr id="22" name="Image 2" descr="/home/claude/work/icons/check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1112" y="4325112"/>
            <a:ext cx="201168" cy="201168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6949440" y="4251960"/>
            <a:ext cx="4251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Automated approval gates, audit-ready by default</a:t>
            </a:r>
            <a:endParaRPr lang="en-US" sz="1200" dirty="0"/>
          </a:p>
        </p:txBody>
      </p:sp>
      <p:pic>
        <p:nvPicPr>
          <p:cNvPr id="24" name="Image 3" descr="/home/claude/work/icons/check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1112" y="5102352"/>
            <a:ext cx="201168" cy="201168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6949440" y="5029200"/>
            <a:ext cx="4251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Success measured against agreed business KPIs</a:t>
            </a:r>
            <a:endParaRPr lang="en-US" sz="1200" dirty="0"/>
          </a:p>
        </p:txBody>
      </p:sp>
      <p:sp>
        <p:nvSpPr>
          <p:cNvPr id="26" name="Text 20"/>
          <p:cNvSpPr/>
          <p:nvPr/>
        </p:nvSpPr>
        <p:spPr>
          <a:xfrm>
            <a:off x="457200" y="64739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B3EA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ariviti</a:t>
            </a:r>
            <a:endParaRPr lang="en-US" sz="1000" dirty="0"/>
          </a:p>
        </p:txBody>
      </p:sp>
      <p:sp>
        <p:nvSpPr>
          <p:cNvPr id="27" name="Text 21"/>
          <p:cNvSpPr/>
          <p:nvPr/>
        </p:nvSpPr>
        <p:spPr>
          <a:xfrm>
            <a:off x="8991295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6B7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Confidential · Ariviti Techno-Commercial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4D1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</a:t>
            </a:r>
            <a:pPr algn="l" indent="0" marL="0">
              <a:buNone/>
            </a:pPr>
            <a:r>
              <a:rPr lang="en-US" sz="1600" b="1" dirty="0">
                <a:solidFill>
                  <a:srgbClr val="3B3EA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riviti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11368735" y="32004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3B3EA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6400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4D1C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DELIVERY ROADMAP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21792" y="96012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E2E2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 16-week phased rollout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822960" y="2834640"/>
            <a:ext cx="10515600" cy="0"/>
          </a:xfrm>
          <a:prstGeom prst="line">
            <a:avLst/>
          </a:prstGeom>
          <a:noFill/>
          <a:ln w="25400">
            <a:solidFill>
              <a:srgbClr val="E1E2E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21792" y="2633472"/>
            <a:ext cx="402336" cy="402336"/>
          </a:xfrm>
          <a:prstGeom prst="ellipse">
            <a:avLst/>
          </a:prstGeom>
          <a:solidFill>
            <a:srgbClr val="FF4D1C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21792" y="2651760"/>
            <a:ext cx="4023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" y="192024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2E2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Discover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" y="224028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4D1C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Wks 1–3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-45720" y="320040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6B6B7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Baseline, ICP &amp; data audit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250692" y="2633472"/>
            <a:ext cx="402336" cy="402336"/>
          </a:xfrm>
          <a:prstGeom prst="ellipse">
            <a:avLst/>
          </a:prstGeom>
          <a:solidFill>
            <a:srgbClr val="3B3EA9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50692" y="2651760"/>
            <a:ext cx="4023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674620" y="192024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2E2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Design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674620" y="224028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4D1C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Wks 4–6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2583180" y="320040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6B6B7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Architecture &amp; governance blueprint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879592" y="2633472"/>
            <a:ext cx="402336" cy="402336"/>
          </a:xfrm>
          <a:prstGeom prst="ellipse">
            <a:avLst/>
          </a:prstGeom>
          <a:solidFill>
            <a:srgbClr val="3B3EA9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879592" y="2651760"/>
            <a:ext cx="4023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303520" y="192024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2E2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Build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303520" y="224028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4D1C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Wks 7–11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5212080" y="320040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6B6B7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Platform build &amp; integration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8508492" y="2633472"/>
            <a:ext cx="402336" cy="402336"/>
          </a:xfrm>
          <a:prstGeom prst="ellipse">
            <a:avLst/>
          </a:prstGeom>
          <a:solidFill>
            <a:srgbClr val="3B3EA9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508492" y="2651760"/>
            <a:ext cx="4023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4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932420" y="192024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2E2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Pilot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932420" y="224028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4D1C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Wks 12–14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7840980" y="320040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6B6B7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Contained production pilot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11137392" y="2633472"/>
            <a:ext cx="402336" cy="402336"/>
          </a:xfrm>
          <a:prstGeom prst="ellipse">
            <a:avLst/>
          </a:prstGeom>
          <a:solidFill>
            <a:srgbClr val="3B3EA9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1137392" y="2651760"/>
            <a:ext cx="4023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5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0561320" y="192024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2E2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Scale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10561320" y="224028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4D1C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Wks 15–16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10469880" y="320040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6B6B7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Rollout &amp; knowledge transfer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457200" y="64739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B3EA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ariviti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8991295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6B7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Confidential · Ariviti Techno-Commercial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4D1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</a:t>
            </a:r>
            <a:pPr algn="l" indent="0" marL="0">
              <a:buNone/>
            </a:pPr>
            <a:r>
              <a:rPr lang="en-US" sz="1600" b="1" dirty="0">
                <a:solidFill>
                  <a:srgbClr val="3B3EA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riviti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11368735" y="32004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3B3EA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6400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4D1C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PROGRAMME PLAN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21792" y="9601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E2E2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Workstream schedule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2697480" y="178308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6B7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W0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2926080" y="2057400"/>
            <a:ext cx="0" cy="3493008"/>
          </a:xfrm>
          <a:prstGeom prst="line">
            <a:avLst/>
          </a:prstGeom>
          <a:noFill/>
          <a:ln w="6350">
            <a:solidFill>
              <a:srgbClr val="E1E2EC"/>
            </a:solidFill>
            <a:prstDash val="sysDot"/>
          </a:ln>
        </p:spPr>
      </p:sp>
      <p:sp>
        <p:nvSpPr>
          <p:cNvPr id="8" name="Text 6"/>
          <p:cNvSpPr/>
          <p:nvPr/>
        </p:nvSpPr>
        <p:spPr>
          <a:xfrm>
            <a:off x="4800600" y="178308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6B7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W4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5029200" y="2057400"/>
            <a:ext cx="0" cy="3493008"/>
          </a:xfrm>
          <a:prstGeom prst="line">
            <a:avLst/>
          </a:prstGeom>
          <a:noFill/>
          <a:ln w="6350">
            <a:solidFill>
              <a:srgbClr val="E1E2EC"/>
            </a:solidFill>
            <a:prstDash val="sysDot"/>
          </a:ln>
        </p:spPr>
      </p:sp>
      <p:sp>
        <p:nvSpPr>
          <p:cNvPr id="10" name="Text 8"/>
          <p:cNvSpPr/>
          <p:nvPr/>
        </p:nvSpPr>
        <p:spPr>
          <a:xfrm>
            <a:off x="6903720" y="178308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6B7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W8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7132320" y="2057400"/>
            <a:ext cx="0" cy="3493008"/>
          </a:xfrm>
          <a:prstGeom prst="line">
            <a:avLst/>
          </a:prstGeom>
          <a:noFill/>
          <a:ln w="6350">
            <a:solidFill>
              <a:srgbClr val="E1E2EC"/>
            </a:solidFill>
            <a:prstDash val="sysDot"/>
          </a:ln>
        </p:spPr>
      </p:sp>
      <p:sp>
        <p:nvSpPr>
          <p:cNvPr id="12" name="Text 10"/>
          <p:cNvSpPr/>
          <p:nvPr/>
        </p:nvSpPr>
        <p:spPr>
          <a:xfrm>
            <a:off x="9006840" y="178308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6B7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W12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9235440" y="2057400"/>
            <a:ext cx="0" cy="3493008"/>
          </a:xfrm>
          <a:prstGeom prst="line">
            <a:avLst/>
          </a:prstGeom>
          <a:noFill/>
          <a:ln w="6350">
            <a:solidFill>
              <a:srgbClr val="E1E2EC"/>
            </a:solidFill>
            <a:prstDash val="sysDot"/>
          </a:ln>
        </p:spPr>
      </p:sp>
      <p:sp>
        <p:nvSpPr>
          <p:cNvPr id="14" name="Text 12"/>
          <p:cNvSpPr/>
          <p:nvPr/>
        </p:nvSpPr>
        <p:spPr>
          <a:xfrm>
            <a:off x="11109960" y="178308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6B7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W16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11338560" y="2057400"/>
            <a:ext cx="0" cy="3493008"/>
          </a:xfrm>
          <a:prstGeom prst="line">
            <a:avLst/>
          </a:prstGeom>
          <a:noFill/>
          <a:ln w="6350">
            <a:solidFill>
              <a:srgbClr val="E1E2EC"/>
            </a:solidFill>
            <a:prstDash val="sysDot"/>
          </a:ln>
        </p:spPr>
      </p:sp>
      <p:sp>
        <p:nvSpPr>
          <p:cNvPr id="16" name="Text 14"/>
          <p:cNvSpPr/>
          <p:nvPr/>
        </p:nvSpPr>
        <p:spPr>
          <a:xfrm>
            <a:off x="640080" y="2084832"/>
            <a:ext cx="2103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E2E2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Discovery &amp; Baseline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926080" y="2176272"/>
            <a:ext cx="1577340" cy="274320"/>
          </a:xfrm>
          <a:prstGeom prst="roundRect">
            <a:avLst>
              <a:gd name="adj" fmla="val 16667"/>
            </a:avLst>
          </a:prstGeom>
          <a:solidFill>
            <a:srgbClr val="6B6B76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2651760"/>
            <a:ext cx="2103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E2E2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Architecture &amp; Governance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977640" y="2743200"/>
            <a:ext cx="2103120" cy="274320"/>
          </a:xfrm>
          <a:prstGeom prst="roundRect">
            <a:avLst>
              <a:gd name="adj" fmla="val 16667"/>
            </a:avLst>
          </a:prstGeom>
          <a:solidFill>
            <a:srgbClr val="3B3EA9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3218688"/>
            <a:ext cx="2103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E2E2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Platform Build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554980" y="3310128"/>
            <a:ext cx="3154680" cy="274320"/>
          </a:xfrm>
          <a:prstGeom prst="roundRect">
            <a:avLst>
              <a:gd name="adj" fmla="val 16667"/>
            </a:avLst>
          </a:prstGeom>
          <a:solidFill>
            <a:srgbClr val="FF4D1C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3785616"/>
            <a:ext cx="2103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E2E2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Integration &amp; Testing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658100" y="3877056"/>
            <a:ext cx="2103120" cy="274320"/>
          </a:xfrm>
          <a:prstGeom prst="roundRect">
            <a:avLst>
              <a:gd name="adj" fmla="val 16667"/>
            </a:avLst>
          </a:prstGeom>
          <a:solidFill>
            <a:srgbClr val="3B3EA9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" y="4352544"/>
            <a:ext cx="2103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E2E2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Pilot Deployment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9235440" y="4443984"/>
            <a:ext cx="1577340" cy="274320"/>
          </a:xfrm>
          <a:prstGeom prst="roundRect">
            <a:avLst>
              <a:gd name="adj" fmla="val 16667"/>
            </a:avLst>
          </a:prstGeom>
          <a:solidFill>
            <a:srgbClr val="FF4D1C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" y="4919472"/>
            <a:ext cx="2103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E2E2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Rollout &amp; Transfer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10287000" y="5010912"/>
            <a:ext cx="1051560" cy="274320"/>
          </a:xfrm>
          <a:prstGeom prst="roundRect">
            <a:avLst>
              <a:gd name="adj" fmla="val 16667"/>
            </a:avLst>
          </a:prstGeom>
          <a:solidFill>
            <a:srgbClr val="6B6B76"/>
          </a:solidFill>
          <a:ln/>
        </p:spPr>
      </p:sp>
      <p:sp>
        <p:nvSpPr>
          <p:cNvPr id="28" name="Text 26"/>
          <p:cNvSpPr/>
          <p:nvPr/>
        </p:nvSpPr>
        <p:spPr>
          <a:xfrm>
            <a:off x="457200" y="64739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B3EA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ariviti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8991295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6B7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Confidential · Ariviti Techno-Commercial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4D1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</a:t>
            </a:r>
            <a:pPr algn="l" indent="0" marL="0">
              <a:buNone/>
            </a:pPr>
            <a:r>
              <a:rPr lang="en-US" sz="1600" b="1" dirty="0">
                <a:solidFill>
                  <a:srgbClr val="3B3EA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riviti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11368735" y="32004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3B3EA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6400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4D1C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ENGAGEMENT TEAM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21792" y="96012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E2E2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Sherpas leading your engagement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1211580" y="2011680"/>
            <a:ext cx="1371600" cy="1371600"/>
          </a:xfrm>
          <a:prstGeom prst="ellipse">
            <a:avLst/>
          </a:prstGeom>
          <a:solidFill>
            <a:srgbClr val="F4F4F8"/>
          </a:solidFill>
          <a:ln w="12700">
            <a:solidFill>
              <a:srgbClr val="E1E2EC"/>
            </a:solidFill>
            <a:prstDash val="solid"/>
          </a:ln>
        </p:spPr>
      </p:sp>
      <p:pic>
        <p:nvPicPr>
          <p:cNvPr id="7" name="Image 0" descr="/home/claude/work/icons/users_indi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23060" y="2423160"/>
            <a:ext cx="548640" cy="5486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0080" y="3520440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2E2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Zunder Lekshmanan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40080" y="3822192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6B7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CEO &amp; Engagement Sponsor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991356" y="2011680"/>
            <a:ext cx="1371600" cy="1371600"/>
          </a:xfrm>
          <a:prstGeom prst="ellipse">
            <a:avLst/>
          </a:prstGeom>
          <a:solidFill>
            <a:srgbClr val="F4F4F8"/>
          </a:solidFill>
          <a:ln w="12700">
            <a:solidFill>
              <a:srgbClr val="E1E2EC"/>
            </a:solidFill>
            <a:prstDash val="solid"/>
          </a:ln>
        </p:spPr>
      </p:sp>
      <p:pic>
        <p:nvPicPr>
          <p:cNvPr id="11" name="Image 1" descr="/home/claude/work/icons/users_indi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02836" y="2423160"/>
            <a:ext cx="548640" cy="5486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419856" y="3520440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2E2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[Name]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3419856" y="3822192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6B7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Chief Strategy Officer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6771132" y="2011680"/>
            <a:ext cx="1371600" cy="1371600"/>
          </a:xfrm>
          <a:prstGeom prst="ellipse">
            <a:avLst/>
          </a:prstGeom>
          <a:solidFill>
            <a:srgbClr val="F4F4F8"/>
          </a:solidFill>
          <a:ln w="12700">
            <a:solidFill>
              <a:srgbClr val="E1E2EC"/>
            </a:solidFill>
            <a:prstDash val="solid"/>
          </a:ln>
        </p:spPr>
      </p:sp>
      <p:pic>
        <p:nvPicPr>
          <p:cNvPr id="15" name="Image 2" descr="/home/claude/work/icons/users_indig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82612" y="2423160"/>
            <a:ext cx="548640" cy="54864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199632" y="3520440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2E2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[Name]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6199632" y="3822192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6B7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Chief Operating Officer</a:t>
            </a:r>
            <a:endParaRPr lang="en-US" sz="1000" dirty="0"/>
          </a:p>
        </p:txBody>
      </p:sp>
      <p:sp>
        <p:nvSpPr>
          <p:cNvPr id="18" name="Shape 13"/>
          <p:cNvSpPr/>
          <p:nvPr/>
        </p:nvSpPr>
        <p:spPr>
          <a:xfrm>
            <a:off x="9550908" y="2011680"/>
            <a:ext cx="1371600" cy="1371600"/>
          </a:xfrm>
          <a:prstGeom prst="ellipse">
            <a:avLst/>
          </a:prstGeom>
          <a:solidFill>
            <a:srgbClr val="F4F4F8"/>
          </a:solidFill>
          <a:ln w="12700">
            <a:solidFill>
              <a:srgbClr val="E1E2EC"/>
            </a:solidFill>
            <a:prstDash val="solid"/>
          </a:ln>
        </p:spPr>
      </p:sp>
      <p:pic>
        <p:nvPicPr>
          <p:cNvPr id="19" name="Image 3" descr="/home/claude/work/icons/users_indi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2388" y="2423160"/>
            <a:ext cx="548640" cy="54864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8979408" y="3520440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2E2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[Name]</a:t>
            </a:r>
            <a:endParaRPr lang="en-US" sz="1300" dirty="0"/>
          </a:p>
        </p:txBody>
      </p:sp>
      <p:sp>
        <p:nvSpPr>
          <p:cNvPr id="21" name="Text 15"/>
          <p:cNvSpPr/>
          <p:nvPr/>
        </p:nvSpPr>
        <p:spPr>
          <a:xfrm>
            <a:off x="8979408" y="3822192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6B7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Lead Solutions Architect</a:t>
            </a:r>
            <a:endParaRPr lang="en-US" sz="1000" dirty="0"/>
          </a:p>
        </p:txBody>
      </p:sp>
      <p:sp>
        <p:nvSpPr>
          <p:cNvPr id="22" name="Shape 16"/>
          <p:cNvSpPr/>
          <p:nvPr/>
        </p:nvSpPr>
        <p:spPr>
          <a:xfrm>
            <a:off x="640080" y="4709160"/>
            <a:ext cx="10881360" cy="0"/>
          </a:xfrm>
          <a:prstGeom prst="line">
            <a:avLst/>
          </a:prstGeom>
          <a:noFill/>
          <a:ln w="9525">
            <a:solidFill>
              <a:srgbClr val="E1E2EC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640080" y="493776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7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Supported by a delivery pod of 6–8 engineers, data scientists, and change-management specialists, scaled to programme phase.</a:t>
            </a:r>
            <a:endParaRPr lang="en-US" sz="1100" dirty="0"/>
          </a:p>
        </p:txBody>
      </p:sp>
      <p:sp>
        <p:nvSpPr>
          <p:cNvPr id="24" name="Text 18"/>
          <p:cNvSpPr/>
          <p:nvPr/>
        </p:nvSpPr>
        <p:spPr>
          <a:xfrm>
            <a:off x="457200" y="64739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B3EA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ariviti</a:t>
            </a:r>
            <a:endParaRPr lang="en-US" sz="1000" dirty="0"/>
          </a:p>
        </p:txBody>
      </p:sp>
      <p:sp>
        <p:nvSpPr>
          <p:cNvPr id="25" name="Text 19"/>
          <p:cNvSpPr/>
          <p:nvPr/>
        </p:nvSpPr>
        <p:spPr>
          <a:xfrm>
            <a:off x="8991295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6B7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Confidential · Ariviti Techno-Commercial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2E2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19872" y="-1024128"/>
            <a:ext cx="4425696" cy="4425696"/>
          </a:xfrm>
          <a:prstGeom prst="ellipse">
            <a:avLst/>
          </a:prstGeom>
          <a:ln w="12700">
            <a:solidFill>
              <a:srgbClr val="4A4DBD"/>
            </a:solidFill>
            <a:prstDash val="sysDot"/>
          </a:ln>
        </p:spPr>
      </p:sp>
      <p:sp>
        <p:nvSpPr>
          <p:cNvPr id="3" name="Shape 1"/>
          <p:cNvSpPr/>
          <p:nvPr/>
        </p:nvSpPr>
        <p:spPr>
          <a:xfrm>
            <a:off x="8823960" y="-320040"/>
            <a:ext cx="3017520" cy="3017520"/>
          </a:xfrm>
          <a:prstGeom prst="ellipse">
            <a:avLst/>
          </a:prstGeom>
          <a:ln w="12700">
            <a:solidFill>
              <a:srgbClr val="4A4DBD"/>
            </a:solidFill>
            <a:prstDash val="sysDot"/>
          </a:ln>
        </p:spPr>
      </p:sp>
      <p:sp>
        <p:nvSpPr>
          <p:cNvPr id="4" name="Shape 2"/>
          <p:cNvSpPr/>
          <p:nvPr/>
        </p:nvSpPr>
        <p:spPr>
          <a:xfrm>
            <a:off x="9427464" y="283464"/>
            <a:ext cx="1810512" cy="1810512"/>
          </a:xfrm>
          <a:prstGeom prst="ellipse">
            <a:avLst/>
          </a:prstGeom>
          <a:ln w="12700">
            <a:solidFill>
              <a:srgbClr val="4A4DBD"/>
            </a:solidFill>
            <a:prstDash val="sysDot"/>
          </a:ln>
        </p:spPr>
      </p:sp>
      <p:sp>
        <p:nvSpPr>
          <p:cNvPr id="5" name="Text 3"/>
          <p:cNvSpPr/>
          <p:nvPr/>
        </p:nvSpPr>
        <p:spPr>
          <a:xfrm>
            <a:off x="640080" y="45720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4D1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</a:t>
            </a:r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riviti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368735" y="32004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13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1463040"/>
            <a:ext cx="1828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0" b="1" dirty="0">
                <a:solidFill>
                  <a:srgbClr val="FF4D1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“</a:t>
            </a:r>
            <a:endParaRPr lang="en-US" sz="12000" dirty="0"/>
          </a:p>
        </p:txBody>
      </p:sp>
      <p:sp>
        <p:nvSpPr>
          <p:cNvPr id="8" name="Text 6"/>
          <p:cNvSpPr/>
          <p:nvPr/>
        </p:nvSpPr>
        <p:spPr>
          <a:xfrm>
            <a:off x="685800" y="2606040"/>
            <a:ext cx="96012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2600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Ariviti didn't just deliver a model — they delivered a governed way of working that our risk and compliance teams could actually sign off on.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685800" y="4434840"/>
            <a:ext cx="1097280" cy="0"/>
          </a:xfrm>
          <a:prstGeom prst="line">
            <a:avLst/>
          </a:prstGeom>
          <a:noFill/>
          <a:ln w="25400">
            <a:solidFill>
              <a:srgbClr val="FF4D1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45720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Chief Data Officer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85800" y="4864608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6C7D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Fortune-500 Financial Services Client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64739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ariviti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991295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C6C7D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Confidential · Ariviti Techno-Commercial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4D1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</a:t>
            </a:r>
            <a:pPr algn="l" indent="0" marL="0">
              <a:buNone/>
            </a:pPr>
            <a:r>
              <a:rPr lang="en-US" sz="1600" b="1" dirty="0">
                <a:solidFill>
                  <a:srgbClr val="3B3EA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riviti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11368735" y="32004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3B3EA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6400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4D1C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TRACK RECORD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21792" y="96012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E2E2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Trusted across regulated industries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640080" y="1965960"/>
            <a:ext cx="3429000" cy="1051560"/>
          </a:xfrm>
          <a:prstGeom prst="rect">
            <a:avLst/>
          </a:prstGeom>
          <a:solidFill>
            <a:srgbClr val="F4F4F8"/>
          </a:solidFill>
          <a:ln w="9525">
            <a:solidFill>
              <a:srgbClr val="E1E2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965960"/>
            <a:ext cx="34290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B6B7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BFSI Group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389120" y="1965960"/>
            <a:ext cx="3429000" cy="1051560"/>
          </a:xfrm>
          <a:prstGeom prst="rect">
            <a:avLst/>
          </a:prstGeom>
          <a:solidFill>
            <a:srgbClr val="F4F4F8"/>
          </a:solidFill>
          <a:ln w="9525">
            <a:solidFill>
              <a:srgbClr val="E1E2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0" y="1965960"/>
            <a:ext cx="34290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B6B7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MedTech Corp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138160" y="1965960"/>
            <a:ext cx="3429000" cy="1051560"/>
          </a:xfrm>
          <a:prstGeom prst="rect">
            <a:avLst/>
          </a:prstGeom>
          <a:solidFill>
            <a:srgbClr val="F4F4F8"/>
          </a:solidFill>
          <a:ln w="9525">
            <a:solidFill>
              <a:srgbClr val="E1E2E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138160" y="1965960"/>
            <a:ext cx="34290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B6B7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Auto Manufacturing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3337560"/>
            <a:ext cx="3429000" cy="1051560"/>
          </a:xfrm>
          <a:prstGeom prst="rect">
            <a:avLst/>
          </a:prstGeom>
          <a:solidFill>
            <a:srgbClr val="F4F4F8"/>
          </a:solidFill>
          <a:ln w="9525">
            <a:solidFill>
              <a:srgbClr val="E1E2E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3337560"/>
            <a:ext cx="34290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B6B7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Retail Conglomerate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389120" y="3337560"/>
            <a:ext cx="3429000" cy="1051560"/>
          </a:xfrm>
          <a:prstGeom prst="rect">
            <a:avLst/>
          </a:prstGeom>
          <a:solidFill>
            <a:srgbClr val="F4F4F8"/>
          </a:solidFill>
          <a:ln w="9525">
            <a:solidFill>
              <a:srgbClr val="E1E2E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89120" y="3337560"/>
            <a:ext cx="34290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B6B7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Logistics Network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138160" y="3337560"/>
            <a:ext cx="3429000" cy="1051560"/>
          </a:xfrm>
          <a:prstGeom prst="rect">
            <a:avLst/>
          </a:prstGeom>
          <a:solidFill>
            <a:srgbClr val="F4F4F8"/>
          </a:solidFill>
          <a:ln w="9525">
            <a:solidFill>
              <a:srgbClr val="E1E2E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138160" y="3337560"/>
            <a:ext cx="34290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B6B7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Energy Utility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40080" y="4846320"/>
            <a:ext cx="10881360" cy="1234440"/>
          </a:xfrm>
          <a:prstGeom prst="rect">
            <a:avLst/>
          </a:prstGeom>
          <a:solidFill>
            <a:srgbClr val="ECEDF6"/>
          </a:solidFill>
          <a:ln/>
        </p:spPr>
      </p:sp>
      <p:sp>
        <p:nvSpPr>
          <p:cNvPr id="19" name="Text 17"/>
          <p:cNvSpPr/>
          <p:nvPr/>
        </p:nvSpPr>
        <p:spPr>
          <a:xfrm>
            <a:off x="914400" y="5074920"/>
            <a:ext cx="1188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3B3EA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18</a:t>
            </a:r>
            <a:endParaRPr lang="en-US" sz="3400" dirty="0"/>
          </a:p>
        </p:txBody>
      </p:sp>
      <p:sp>
        <p:nvSpPr>
          <p:cNvPr id="20" name="Text 18"/>
          <p:cNvSpPr/>
          <p:nvPr/>
        </p:nvSpPr>
        <p:spPr>
          <a:xfrm>
            <a:off x="914400" y="5074920"/>
            <a:ext cx="118872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B7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enterprise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6B6B7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engagements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2743200" y="5074920"/>
            <a:ext cx="8503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2E2E2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Since our formation through the Integra × OpenTurf merger, we've taken AI programmes from pilot to governed production across BFSI, manufacturing, healthcare, and retail.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457200" y="64739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B3EA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ariviti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8991295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6B7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Confidential · Ariviti Techno-Commercial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4D1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</a:t>
            </a:r>
            <a:pPr algn="l" indent="0" marL="0">
              <a:buNone/>
            </a:pPr>
            <a:r>
              <a:rPr lang="en-US" sz="1600" b="1" dirty="0">
                <a:solidFill>
                  <a:srgbClr val="3B3EA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riviti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11368735" y="32004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3B3EA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6400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4D1C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BUSINESS CASE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21792" y="96012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E2E2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Projected efficiency gains by workflow</a:t>
            </a:r>
            <a:endParaRPr lang="en-US" sz="26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640080" y="1874520"/>
          <a:ext cx="685800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7818120" y="1874520"/>
            <a:ext cx="3703320" cy="4206240"/>
          </a:xfrm>
          <a:prstGeom prst="rect">
            <a:avLst/>
          </a:prstGeom>
          <a:solidFill>
            <a:srgbClr val="F4F4F8"/>
          </a:solidFill>
          <a:ln/>
        </p:spPr>
      </p:sp>
      <p:sp>
        <p:nvSpPr>
          <p:cNvPr id="8" name="Text 5"/>
          <p:cNvSpPr/>
          <p:nvPr/>
        </p:nvSpPr>
        <p:spPr>
          <a:xfrm>
            <a:off x="8092440" y="21488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2E2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Reading the chart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8092440" y="2660904"/>
            <a:ext cx="73152" cy="73152"/>
          </a:xfrm>
          <a:prstGeom prst="ellipse">
            <a:avLst/>
          </a:prstGeom>
          <a:solidFill>
            <a:srgbClr val="FF4D1C"/>
          </a:solidFill>
          <a:ln/>
        </p:spPr>
      </p:sp>
      <p:sp>
        <p:nvSpPr>
          <p:cNvPr id="10" name="Text 7"/>
          <p:cNvSpPr/>
          <p:nvPr/>
        </p:nvSpPr>
        <p:spPr>
          <a:xfrm>
            <a:off x="8275320" y="2560320"/>
            <a:ext cx="3063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2E2E2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Bars show average processing hours per case, normalised to a baseline of 100.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8092440" y="3529584"/>
            <a:ext cx="73152" cy="73152"/>
          </a:xfrm>
          <a:prstGeom prst="ellipse">
            <a:avLst/>
          </a:prstGeom>
          <a:solidFill>
            <a:srgbClr val="FF4D1C"/>
          </a:solidFill>
          <a:ln/>
        </p:spPr>
      </p:sp>
      <p:sp>
        <p:nvSpPr>
          <p:cNvPr id="12" name="Text 9"/>
          <p:cNvSpPr/>
          <p:nvPr/>
        </p:nvSpPr>
        <p:spPr>
          <a:xfrm>
            <a:off x="8275320" y="3429000"/>
            <a:ext cx="3063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2E2E2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Largest gains are in reconciliation, where rules-based matching is fully automatable.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8092440" y="4398264"/>
            <a:ext cx="73152" cy="73152"/>
          </a:xfrm>
          <a:prstGeom prst="ellipse">
            <a:avLst/>
          </a:prstGeom>
          <a:solidFill>
            <a:srgbClr val="FF4D1C"/>
          </a:solidFill>
          <a:ln/>
        </p:spPr>
      </p:sp>
      <p:sp>
        <p:nvSpPr>
          <p:cNvPr id="14" name="Text 11"/>
          <p:cNvSpPr/>
          <p:nvPr/>
        </p:nvSpPr>
        <p:spPr>
          <a:xfrm>
            <a:off x="8275320" y="4297680"/>
            <a:ext cx="3063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2E2E2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Customer query handling retains a human-in-the-loop step by design.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457200" y="64739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B3EA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ariviti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8991295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6B7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Confidential · Ariviti Techno-Commercial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4D1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</a:t>
            </a:r>
            <a:pPr algn="l" indent="0" marL="0">
              <a:buNone/>
            </a:pPr>
            <a:r>
              <a:rPr lang="en-US" sz="1600" b="1" dirty="0">
                <a:solidFill>
                  <a:srgbClr val="3B3EA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riviti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11368735" y="32004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3B3EA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6400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4D1C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COMMERCIALS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21792" y="9601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E2E2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Investment summary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640080" y="1920240"/>
            <a:ext cx="10698480" cy="566928"/>
          </a:xfrm>
          <a:prstGeom prst="rect">
            <a:avLst/>
          </a:prstGeom>
          <a:solidFill>
            <a:srgbClr val="3B3EA9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920240"/>
            <a:ext cx="2103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Phase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2834640" y="1920240"/>
            <a:ext cx="4663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Scope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7589520" y="1920240"/>
            <a:ext cx="1371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Duration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9052560" y="1920240"/>
            <a:ext cx="2194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Investment (INR)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640080" y="2487168"/>
            <a:ext cx="2103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E2E2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Discovery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834640" y="2487168"/>
            <a:ext cx="4663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E2E2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Baseline audit, ICP mapping, architecture blueprint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589520" y="2487168"/>
            <a:ext cx="1371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E2E2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3 wks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778240" y="2487168"/>
            <a:ext cx="2468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2E2E2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12,50,000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40080" y="3054096"/>
            <a:ext cx="10698480" cy="566928"/>
          </a:xfrm>
          <a:prstGeom prst="rect">
            <a:avLst/>
          </a:prstGeom>
          <a:solidFill>
            <a:srgbClr val="F4F4F8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3054096"/>
            <a:ext cx="2103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E2E2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Build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834640" y="3054096"/>
            <a:ext cx="4663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E2E2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Platform build, integration, governance layer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589520" y="3054096"/>
            <a:ext cx="1371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E2E2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8 wks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778240" y="3054096"/>
            <a:ext cx="2468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2E2E2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48,00,000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40080" y="3621024"/>
            <a:ext cx="2103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E2E2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Pilot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834640" y="3621024"/>
            <a:ext cx="4663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E2E2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Contained production pilot, 1 workflow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589520" y="3621024"/>
            <a:ext cx="1371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E2E2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3 wks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778240" y="3621024"/>
            <a:ext cx="2468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2E2E2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9,50,000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40080" y="4187952"/>
            <a:ext cx="10698480" cy="566928"/>
          </a:xfrm>
          <a:prstGeom prst="rect">
            <a:avLst/>
          </a:prstGeom>
          <a:solidFill>
            <a:srgbClr val="F4F4F8"/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" y="4187952"/>
            <a:ext cx="2103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E2E2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Scale &amp; Transfer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2834640" y="4187952"/>
            <a:ext cx="4663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E2E2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Rollout, training, knowledge transfer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589520" y="4187952"/>
            <a:ext cx="1371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E2E2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2 wks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778240" y="4187952"/>
            <a:ext cx="2468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2E2E2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14,00,000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40080" y="4754880"/>
            <a:ext cx="10698480" cy="566928"/>
          </a:xfrm>
          <a:prstGeom prst="rect">
            <a:avLst/>
          </a:prstGeom>
          <a:solidFill>
            <a:srgbClr val="2E2E2E"/>
          </a:solidFill>
          <a:ln/>
        </p:spPr>
      </p:sp>
      <p:sp>
        <p:nvSpPr>
          <p:cNvPr id="30" name="Text 28"/>
          <p:cNvSpPr/>
          <p:nvPr/>
        </p:nvSpPr>
        <p:spPr>
          <a:xfrm>
            <a:off x="640080" y="4754880"/>
            <a:ext cx="6400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Total Programme Investment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8778240" y="4754880"/>
            <a:ext cx="2468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FF4D1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₹ 84,00,000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640080" y="5504688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6B7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Excludes third-party cloud/compute costs, billed at actuals with pre-agreed caps. GST as applicable.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57200" y="64739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B3EA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ariviti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8991295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6B7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Confidential · Ariviti Techno-Commercial</a:t>
            </a: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4D1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</a:t>
            </a:r>
            <a:pPr algn="l" indent="0" marL="0">
              <a:buNone/>
            </a:pPr>
            <a:r>
              <a:rPr lang="en-US" sz="1600" b="1" dirty="0">
                <a:solidFill>
                  <a:srgbClr val="3B3EA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riviti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11368735" y="32004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3B3EA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17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6400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4D1C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CHOOSE YOUR MODEL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21792" y="9601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E2E2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Three ways to engage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640080" y="1874520"/>
            <a:ext cx="3429000" cy="4434840"/>
          </a:xfrm>
          <a:prstGeom prst="rect">
            <a:avLst/>
          </a:prstGeom>
          <a:solidFill>
            <a:srgbClr val="F4F4F8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148840"/>
            <a:ext cx="2880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2E2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Advisory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2651760"/>
            <a:ext cx="2880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E2E2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₹18L</a:t>
            </a:r>
            <a:pPr indent="0" marL="0">
              <a:buNone/>
            </a:pPr>
            <a:r>
              <a:rPr lang="en-US" sz="1000" dirty="0">
                <a:solidFill>
                  <a:srgbClr val="6B6B7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/ quarter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914400" y="3246120"/>
            <a:ext cx="2880360" cy="0"/>
          </a:xfrm>
          <a:prstGeom prst="line">
            <a:avLst/>
          </a:prstGeom>
          <a:noFill/>
          <a:ln w="9525">
            <a:solidFill>
              <a:srgbClr val="E1E2EC"/>
            </a:solidFill>
            <a:prstDash val="solid"/>
          </a:ln>
        </p:spPr>
      </p:sp>
      <p:pic>
        <p:nvPicPr>
          <p:cNvPr id="10" name="Image 0" descr="/home/claude/work/icons/check_indi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3429000"/>
            <a:ext cx="182880" cy="18288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07008" y="3374136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E2E2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Strategy &amp; roadmap</a:t>
            </a:r>
            <a:endParaRPr lang="en-US" sz="1050" dirty="0"/>
          </a:p>
        </p:txBody>
      </p:sp>
      <p:pic>
        <p:nvPicPr>
          <p:cNvPr id="12" name="Image 1" descr="/home/claude/work/icons/check_indi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3867912"/>
            <a:ext cx="182880" cy="18288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207008" y="3813048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E2E2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Architecture review</a:t>
            </a:r>
            <a:endParaRPr lang="en-US" sz="1050" dirty="0"/>
          </a:p>
        </p:txBody>
      </p:sp>
      <p:pic>
        <p:nvPicPr>
          <p:cNvPr id="14" name="Image 2" descr="/home/claude/work/icons/check_indig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4306824"/>
            <a:ext cx="182880" cy="18288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207008" y="4251960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E2E2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Quarterly governance audit</a:t>
            </a:r>
            <a:endParaRPr lang="en-US" sz="1050" dirty="0"/>
          </a:p>
        </p:txBody>
      </p:sp>
      <p:sp>
        <p:nvSpPr>
          <p:cNvPr id="16" name="Shape 11"/>
          <p:cNvSpPr/>
          <p:nvPr/>
        </p:nvSpPr>
        <p:spPr>
          <a:xfrm>
            <a:off x="4343400" y="1874520"/>
            <a:ext cx="3429000" cy="4434840"/>
          </a:xfrm>
          <a:prstGeom prst="rect">
            <a:avLst/>
          </a:prstGeom>
          <a:solidFill>
            <a:srgbClr val="3B3EA9"/>
          </a:solidFill>
          <a:ln/>
        </p:spPr>
      </p:sp>
      <p:sp>
        <p:nvSpPr>
          <p:cNvPr id="17" name="Shape 12"/>
          <p:cNvSpPr/>
          <p:nvPr/>
        </p:nvSpPr>
        <p:spPr>
          <a:xfrm>
            <a:off x="4343400" y="1554480"/>
            <a:ext cx="3429000" cy="320040"/>
          </a:xfrm>
          <a:prstGeom prst="rect">
            <a:avLst/>
          </a:prstGeom>
          <a:solidFill>
            <a:srgbClr val="FF4D1C"/>
          </a:solidFill>
          <a:ln/>
        </p:spPr>
      </p:sp>
      <p:sp>
        <p:nvSpPr>
          <p:cNvPr id="18" name="Text 13"/>
          <p:cNvSpPr/>
          <p:nvPr/>
        </p:nvSpPr>
        <p:spPr>
          <a:xfrm>
            <a:off x="4343400" y="1554480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RECOMMENDED</a:t>
            </a:r>
            <a:endParaRPr lang="en-US" sz="950" dirty="0"/>
          </a:p>
        </p:txBody>
      </p:sp>
      <p:sp>
        <p:nvSpPr>
          <p:cNvPr id="19" name="Text 14"/>
          <p:cNvSpPr/>
          <p:nvPr/>
        </p:nvSpPr>
        <p:spPr>
          <a:xfrm>
            <a:off x="4617720" y="2148840"/>
            <a:ext cx="2880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Build-Operate-Transfer</a:t>
            </a:r>
            <a:endParaRPr lang="en-US" sz="1600" dirty="0"/>
          </a:p>
        </p:txBody>
      </p:sp>
      <p:sp>
        <p:nvSpPr>
          <p:cNvPr id="20" name="Text 15"/>
          <p:cNvSpPr/>
          <p:nvPr/>
        </p:nvSpPr>
        <p:spPr>
          <a:xfrm>
            <a:off x="4617720" y="2651760"/>
            <a:ext cx="2880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₹84L</a:t>
            </a:r>
            <a:pPr indent="0" marL="0">
              <a:buNone/>
            </a:pPr>
            <a:r>
              <a:rPr lang="en-US" sz="1000" dirty="0">
                <a:solidFill>
                  <a:srgbClr val="C6C7D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/ programme</a:t>
            </a:r>
            <a:endParaRPr lang="en-US" sz="2600" dirty="0"/>
          </a:p>
        </p:txBody>
      </p:sp>
      <p:sp>
        <p:nvSpPr>
          <p:cNvPr id="21" name="Shape 16"/>
          <p:cNvSpPr/>
          <p:nvPr/>
        </p:nvSpPr>
        <p:spPr>
          <a:xfrm>
            <a:off x="4617720" y="3246120"/>
            <a:ext cx="2880360" cy="0"/>
          </a:xfrm>
          <a:prstGeom prst="line">
            <a:avLst/>
          </a:prstGeom>
          <a:noFill/>
          <a:ln w="9525">
            <a:solidFill>
              <a:srgbClr val="5153C4"/>
            </a:solidFill>
            <a:prstDash val="solid"/>
          </a:ln>
        </p:spPr>
      </p:sp>
      <p:pic>
        <p:nvPicPr>
          <p:cNvPr id="22" name="Image 3" descr="/home/claude/work/icons/check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17720" y="3429000"/>
            <a:ext cx="182880" cy="18288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4910328" y="3374136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Full platform build</a:t>
            </a:r>
            <a:endParaRPr lang="en-US" sz="1050" dirty="0"/>
          </a:p>
        </p:txBody>
      </p:sp>
      <p:pic>
        <p:nvPicPr>
          <p:cNvPr id="24" name="Image 4" descr="/home/claude/work/icons/check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17720" y="3867912"/>
            <a:ext cx="182880" cy="182880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4910328" y="3813048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Embedded delivery pod</a:t>
            </a:r>
            <a:endParaRPr lang="en-US" sz="1050" dirty="0"/>
          </a:p>
        </p:txBody>
      </p:sp>
      <p:pic>
        <p:nvPicPr>
          <p:cNvPr id="26" name="Image 5" descr="/home/claude/work/icons/check_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17720" y="4306824"/>
            <a:ext cx="182880" cy="182880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4910328" y="4251960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Governance framework</a:t>
            </a:r>
            <a:endParaRPr lang="en-US" sz="1050" dirty="0"/>
          </a:p>
        </p:txBody>
      </p:sp>
      <p:pic>
        <p:nvPicPr>
          <p:cNvPr id="28" name="Image 6" descr="/home/claude/work/icons/check_whit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17720" y="4745736"/>
            <a:ext cx="182880" cy="18288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4910328" y="4690872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Knowledge transfer</a:t>
            </a:r>
            <a:endParaRPr lang="en-US" sz="1050" dirty="0"/>
          </a:p>
        </p:txBody>
      </p:sp>
      <p:sp>
        <p:nvSpPr>
          <p:cNvPr id="30" name="Shape 21"/>
          <p:cNvSpPr/>
          <p:nvPr/>
        </p:nvSpPr>
        <p:spPr>
          <a:xfrm>
            <a:off x="8046720" y="1874520"/>
            <a:ext cx="3429000" cy="4434840"/>
          </a:xfrm>
          <a:prstGeom prst="rect">
            <a:avLst/>
          </a:prstGeom>
          <a:solidFill>
            <a:srgbClr val="F4F4F8"/>
          </a:solidFill>
          <a:ln/>
        </p:spPr>
      </p:sp>
      <p:sp>
        <p:nvSpPr>
          <p:cNvPr id="31" name="Text 22"/>
          <p:cNvSpPr/>
          <p:nvPr/>
        </p:nvSpPr>
        <p:spPr>
          <a:xfrm>
            <a:off x="8321040" y="2148840"/>
            <a:ext cx="2880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2E2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Managed AI Ops</a:t>
            </a:r>
            <a:endParaRPr lang="en-US" sz="1600" dirty="0"/>
          </a:p>
        </p:txBody>
      </p:sp>
      <p:sp>
        <p:nvSpPr>
          <p:cNvPr id="32" name="Text 23"/>
          <p:cNvSpPr/>
          <p:nvPr/>
        </p:nvSpPr>
        <p:spPr>
          <a:xfrm>
            <a:off x="8321040" y="2651760"/>
            <a:ext cx="2880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E2E2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₹22L</a:t>
            </a:r>
            <a:pPr indent="0" marL="0">
              <a:buNone/>
            </a:pPr>
            <a:r>
              <a:rPr lang="en-US" sz="1000" dirty="0">
                <a:solidFill>
                  <a:srgbClr val="6B6B7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/ month</a:t>
            </a:r>
            <a:endParaRPr lang="en-US" sz="2600" dirty="0"/>
          </a:p>
        </p:txBody>
      </p:sp>
      <p:sp>
        <p:nvSpPr>
          <p:cNvPr id="33" name="Shape 24"/>
          <p:cNvSpPr/>
          <p:nvPr/>
        </p:nvSpPr>
        <p:spPr>
          <a:xfrm>
            <a:off x="8321040" y="3246120"/>
            <a:ext cx="2880360" cy="0"/>
          </a:xfrm>
          <a:prstGeom prst="line">
            <a:avLst/>
          </a:prstGeom>
          <a:noFill/>
          <a:ln w="9525">
            <a:solidFill>
              <a:srgbClr val="E1E2EC"/>
            </a:solidFill>
            <a:prstDash val="solid"/>
          </a:ln>
        </p:spPr>
      </p:sp>
      <p:pic>
        <p:nvPicPr>
          <p:cNvPr id="34" name="Image 7" descr="/home/claude/work/icons/check_indigo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21040" y="3429000"/>
            <a:ext cx="182880" cy="182880"/>
          </a:xfrm>
          <a:prstGeom prst="rect">
            <a:avLst/>
          </a:prstGeom>
        </p:spPr>
      </p:pic>
      <p:sp>
        <p:nvSpPr>
          <p:cNvPr id="35" name="Text 25"/>
          <p:cNvSpPr/>
          <p:nvPr/>
        </p:nvSpPr>
        <p:spPr>
          <a:xfrm>
            <a:off x="8613648" y="3374136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E2E2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Ongoing operation</a:t>
            </a:r>
            <a:endParaRPr lang="en-US" sz="1050" dirty="0"/>
          </a:p>
        </p:txBody>
      </p:sp>
      <p:pic>
        <p:nvPicPr>
          <p:cNvPr id="36" name="Image 8" descr="/home/claude/work/icons/check_indigo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21040" y="3867912"/>
            <a:ext cx="182880" cy="182880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8613648" y="3813048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E2E2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Model monitoring</a:t>
            </a:r>
            <a:endParaRPr lang="en-US" sz="1050" dirty="0"/>
          </a:p>
        </p:txBody>
      </p:sp>
      <p:pic>
        <p:nvPicPr>
          <p:cNvPr id="38" name="Image 9" descr="/home/claude/work/icons/check_indigo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321040" y="4306824"/>
            <a:ext cx="182880" cy="182880"/>
          </a:xfrm>
          <a:prstGeom prst="rect">
            <a:avLst/>
          </a:prstGeom>
        </p:spPr>
      </p:pic>
      <p:sp>
        <p:nvSpPr>
          <p:cNvPr id="39" name="Text 27"/>
          <p:cNvSpPr/>
          <p:nvPr/>
        </p:nvSpPr>
        <p:spPr>
          <a:xfrm>
            <a:off x="8613648" y="4251960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E2E2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SLA-backed support</a:t>
            </a:r>
            <a:endParaRPr lang="en-US" sz="1050" dirty="0"/>
          </a:p>
        </p:txBody>
      </p:sp>
      <p:sp>
        <p:nvSpPr>
          <p:cNvPr id="40" name="Text 28"/>
          <p:cNvSpPr/>
          <p:nvPr/>
        </p:nvSpPr>
        <p:spPr>
          <a:xfrm>
            <a:off x="457200" y="64739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B3EA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ariviti</a:t>
            </a:r>
            <a:endParaRPr lang="en-US" sz="1000" dirty="0"/>
          </a:p>
        </p:txBody>
      </p:sp>
      <p:sp>
        <p:nvSpPr>
          <p:cNvPr id="41" name="Text 29"/>
          <p:cNvSpPr/>
          <p:nvPr/>
        </p:nvSpPr>
        <p:spPr>
          <a:xfrm>
            <a:off x="8991295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6B7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Confidential · Ariviti Techno-Commercial</a:t>
            </a:r>
            <a:endParaRPr lang="en-US" sz="8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4D1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</a:t>
            </a:r>
            <a:pPr algn="l" indent="0" marL="0">
              <a:buNone/>
            </a:pPr>
            <a:r>
              <a:rPr lang="en-US" sz="1600" b="1" dirty="0">
                <a:solidFill>
                  <a:srgbClr val="3B3EA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riviti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11368735" y="32004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3B3EA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18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6400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4D1C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OPERATING MODEL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21792" y="9601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E2E2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governed AI operating loop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663440" y="2788920"/>
            <a:ext cx="2743200" cy="2743200"/>
          </a:xfrm>
          <a:prstGeom prst="ellipse">
            <a:avLst/>
          </a:prstGeom>
          <a:ln w="15875">
            <a:solidFill>
              <a:srgbClr val="E1E2EC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>
            <a:off x="5349240" y="3474720"/>
            <a:ext cx="1371600" cy="1371600"/>
          </a:xfrm>
          <a:prstGeom prst="ellipse">
            <a:avLst/>
          </a:prstGeom>
          <a:solidFill>
            <a:srgbClr val="3B3EA9"/>
          </a:solidFill>
          <a:ln/>
        </p:spPr>
      </p:sp>
      <p:sp>
        <p:nvSpPr>
          <p:cNvPr id="8" name="Text 6"/>
          <p:cNvSpPr/>
          <p:nvPr/>
        </p:nvSpPr>
        <p:spPr>
          <a:xfrm>
            <a:off x="5349240" y="388620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GOVERNANCE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CORE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596128" y="2350008"/>
            <a:ext cx="877824" cy="877824"/>
          </a:xfrm>
          <a:prstGeom prst="ellipse">
            <a:avLst/>
          </a:prstGeom>
          <a:solidFill>
            <a:srgbClr val="FFFFFF"/>
          </a:solidFill>
          <a:ln w="25400">
            <a:solidFill>
              <a:srgbClr val="FF4D1C"/>
            </a:solidFill>
            <a:prstDash val="solid"/>
          </a:ln>
        </p:spPr>
      </p:sp>
      <p:pic>
        <p:nvPicPr>
          <p:cNvPr id="10" name="Image 0" descr="/home/claude/work/icons/compass_oran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33872" y="2587752"/>
            <a:ext cx="402336" cy="40233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120640" y="16459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2E2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Sense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5120640" y="192024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6B6B7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Capture signal from data &amp; operations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6967728" y="3721608"/>
            <a:ext cx="877824" cy="877824"/>
          </a:xfrm>
          <a:prstGeom prst="ellipse">
            <a:avLst/>
          </a:prstGeom>
          <a:solidFill>
            <a:srgbClr val="FFFFFF"/>
          </a:solidFill>
          <a:ln w="25400">
            <a:solidFill>
              <a:srgbClr val="FF4D1C"/>
            </a:solidFill>
            <a:prstDash val="solid"/>
          </a:ln>
        </p:spPr>
      </p:sp>
      <p:pic>
        <p:nvPicPr>
          <p:cNvPr id="14" name="Image 1" descr="/home/claude/work/icons/cpu_orang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5472" y="3959352"/>
            <a:ext cx="402336" cy="402336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8001000" y="39776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E2E2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Decide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8001000" y="425196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6B6B7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Model-assisted recommendation</a:t>
            </a:r>
            <a:endParaRPr lang="en-US" sz="850" dirty="0"/>
          </a:p>
        </p:txBody>
      </p:sp>
      <p:sp>
        <p:nvSpPr>
          <p:cNvPr id="17" name="Shape 13"/>
          <p:cNvSpPr/>
          <p:nvPr/>
        </p:nvSpPr>
        <p:spPr>
          <a:xfrm>
            <a:off x="5596128" y="5093208"/>
            <a:ext cx="877824" cy="877824"/>
          </a:xfrm>
          <a:prstGeom prst="ellipse">
            <a:avLst/>
          </a:prstGeom>
          <a:solidFill>
            <a:srgbClr val="FFFFFF"/>
          </a:solidFill>
          <a:ln w="25400">
            <a:solidFill>
              <a:srgbClr val="FF4D1C"/>
            </a:solidFill>
            <a:prstDash val="solid"/>
          </a:ln>
        </p:spPr>
      </p:sp>
      <p:pic>
        <p:nvPicPr>
          <p:cNvPr id="18" name="Image 2" descr="/home/claude/work/icons/users_orang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33872" y="5330952"/>
            <a:ext cx="402336" cy="402336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5120640" y="609904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2E2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Act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5120640" y="6373368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6B6B7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Human approval &amp; execution</a:t>
            </a:r>
            <a:endParaRPr lang="en-US" sz="850" dirty="0"/>
          </a:p>
        </p:txBody>
      </p:sp>
      <p:sp>
        <p:nvSpPr>
          <p:cNvPr id="21" name="Shape 16"/>
          <p:cNvSpPr/>
          <p:nvPr/>
        </p:nvSpPr>
        <p:spPr>
          <a:xfrm>
            <a:off x="4224528" y="3721608"/>
            <a:ext cx="877824" cy="877824"/>
          </a:xfrm>
          <a:prstGeom prst="ellipse">
            <a:avLst/>
          </a:prstGeom>
          <a:solidFill>
            <a:srgbClr val="FFFFFF"/>
          </a:solidFill>
          <a:ln w="25400">
            <a:solidFill>
              <a:srgbClr val="FF4D1C"/>
            </a:solidFill>
            <a:prstDash val="solid"/>
          </a:ln>
        </p:spPr>
      </p:sp>
      <p:pic>
        <p:nvPicPr>
          <p:cNvPr id="22" name="Image 3" descr="/home/claude/work/icons/chart_orang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62272" y="3959352"/>
            <a:ext cx="402336" cy="402336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2240280" y="39776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E2E2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Learn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2240280" y="425196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6B6B7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Feedback loop &amp; re-training</a:t>
            </a:r>
            <a:endParaRPr lang="en-US" sz="850" dirty="0"/>
          </a:p>
        </p:txBody>
      </p:sp>
      <p:sp>
        <p:nvSpPr>
          <p:cNvPr id="25" name="Text 19"/>
          <p:cNvSpPr/>
          <p:nvPr/>
        </p:nvSpPr>
        <p:spPr>
          <a:xfrm>
            <a:off x="457200" y="64739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B3EA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ariviti</a:t>
            </a:r>
            <a:endParaRPr lang="en-US" sz="1000" dirty="0"/>
          </a:p>
        </p:txBody>
      </p:sp>
      <p:sp>
        <p:nvSpPr>
          <p:cNvPr id="26" name="Text 20"/>
          <p:cNvSpPr/>
          <p:nvPr/>
        </p:nvSpPr>
        <p:spPr>
          <a:xfrm>
            <a:off x="8991295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6B7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Confidential · Ariviti Techno-Commercial</a:t>
            </a:r>
            <a:endParaRPr lang="en-US" sz="8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4D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-1371600"/>
            <a:ext cx="4572000" cy="4572000"/>
          </a:xfrm>
          <a:prstGeom prst="ellipse">
            <a:avLst/>
          </a:prstGeom>
          <a:solidFill>
            <a:srgbClr val="FF6A3D"/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4572000"/>
            <a:ext cx="3657600" cy="3657600"/>
          </a:xfrm>
          <a:prstGeom prst="ellipse">
            <a:avLst/>
          </a:prstGeom>
          <a:solidFill>
            <a:srgbClr val="FF6A3D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45720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</a:t>
            </a:r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riviti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22960" y="2468880"/>
            <a:ext cx="105156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4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We don't showcase technology.</a:t>
            </a:r>
            <a:endParaRPr lang="en-US" sz="3800" dirty="0"/>
          </a:p>
          <a:p>
            <a:pPr indent="0" marL="0">
              <a:lnSpc>
                <a:spcPts val="44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We solve real business problems.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822960" y="45720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E3D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— Ariviti Tone &amp; Voice Principle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64739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ariviti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991295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C6C7D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Confidential · Ariviti Techno-Commercial</a:t>
            </a:r>
            <a:endParaRPr lang="en-US" sz="8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E166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059168" y="2304288"/>
            <a:ext cx="5632704" cy="5632704"/>
          </a:xfrm>
          <a:prstGeom prst="ellipse">
            <a:avLst/>
          </a:prstGeom>
          <a:ln w="12700">
            <a:solidFill>
              <a:srgbClr val="4A4DBD"/>
            </a:solidFill>
            <a:prstDash val="sysDot"/>
          </a:ln>
        </p:spPr>
      </p:sp>
      <p:sp>
        <p:nvSpPr>
          <p:cNvPr id="3" name="Shape 1"/>
          <p:cNvSpPr/>
          <p:nvPr/>
        </p:nvSpPr>
        <p:spPr>
          <a:xfrm>
            <a:off x="7955280" y="3200400"/>
            <a:ext cx="3840480" cy="3840480"/>
          </a:xfrm>
          <a:prstGeom prst="ellipse">
            <a:avLst/>
          </a:prstGeom>
          <a:ln w="12700">
            <a:solidFill>
              <a:srgbClr val="4A4DBD"/>
            </a:solidFill>
            <a:prstDash val="sysDot"/>
          </a:ln>
        </p:spPr>
      </p:sp>
      <p:sp>
        <p:nvSpPr>
          <p:cNvPr id="4" name="Shape 2"/>
          <p:cNvSpPr/>
          <p:nvPr/>
        </p:nvSpPr>
        <p:spPr>
          <a:xfrm>
            <a:off x="8723376" y="3968496"/>
            <a:ext cx="2304288" cy="2304288"/>
          </a:xfrm>
          <a:prstGeom prst="ellipse">
            <a:avLst/>
          </a:prstGeom>
          <a:ln w="12700">
            <a:solidFill>
              <a:srgbClr val="4A4DBD"/>
            </a:solidFill>
            <a:prstDash val="sysDot"/>
          </a:ln>
        </p:spPr>
      </p:sp>
      <p:sp>
        <p:nvSpPr>
          <p:cNvPr id="5" name="Text 3"/>
          <p:cNvSpPr/>
          <p:nvPr/>
        </p:nvSpPr>
        <p:spPr>
          <a:xfrm>
            <a:off x="640080" y="45720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4D1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</a:t>
            </a:r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riviti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1463040"/>
            <a:ext cx="77724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Let's put AI into</a:t>
            </a:r>
            <a:endParaRPr lang="en-US" sz="4000" dirty="0"/>
          </a:p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production, together.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658368" y="3520440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4D1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51560" y="352044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6C7D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Confirm scope &amp; sign statement of work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58368" y="3959352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4D1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51560" y="3959352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6C7D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Kick off discovery — week of [date]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58368" y="4398264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4D1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51560" y="4398264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6C7D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Establish joint governance council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5166360"/>
            <a:ext cx="10881360" cy="0"/>
          </a:xfrm>
          <a:prstGeom prst="line">
            <a:avLst/>
          </a:prstGeom>
          <a:noFill/>
          <a:ln w="12700">
            <a:solidFill>
              <a:srgbClr val="4A4DB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539496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FF4D1C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BUSINESS ENQUIRIES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40080" y="5650992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bd@ariviti.com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297680" y="539496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FF4D1C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TECHNICAL QUERIES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297680" y="5650992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solutions@ariviti.com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955280" y="539496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FF4D1C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WEB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7955280" y="5650992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ariviti.com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57200" y="64739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ariviti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8991295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C6C7D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Confidential · Ariviti Techno-Commercial</a:t>
            </a:r>
            <a:endParaRPr lang="en-US" sz="8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2E2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98568" y="274320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4D1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</a:t>
            </a:r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riviti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4267048" y="31546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6C7D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Intelligence Amplified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438248" y="6126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B7C99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© 2026 Ariviti Technologies. All rights reserved. This document is confidential and prepared solely for the intended recipient.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2026-08-13T03:08:56Z</dcterms:created>
  <dcterms:modified xsi:type="dcterms:W3CDTF">2026-08-13T03:08:56Z</dcterms:modified>
</cp:coreProperties>
</file>