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9507200" cy="10287000"/>
  <p:notesSz cx="6858000" cy="9144000"/>
  <p:embeddedFontLst>
    <p:embeddedFont>
      <p:font typeface="Archivo" pitchFamily="2" charset="0"/>
      <p:regular r:id="rId8"/>
      <p:bold r:id="rId9"/>
      <p:italic r:id="rId10"/>
      <p:boldItalic r:id="rId11"/>
    </p:embeddedFont>
    <p:embeddedFont>
      <p:font typeface="Archivo Light" pitchFamily="2" charset="0"/>
      <p:regular r:id="rId12"/>
      <p:bold r:id="rId13"/>
      <p:italic r:id="rId14"/>
      <p:boldItalic r:id="rId15"/>
    </p:embeddedFont>
    <p:embeddedFont>
      <p:font typeface="Archivo Medium" pitchFamily="2" charset="0"/>
      <p:regular r:id="rId16"/>
      <p:bold r:id="rId17"/>
      <p:italic r:id="rId18"/>
      <p:boldItalic r:id="rId19"/>
    </p:embeddedFont>
    <p:embeddedFont>
      <p:font typeface="Archivo Thin" pitchFamily="2" charset="0"/>
      <p:regular r:id="rId20"/>
      <p:bold r:id="rId21"/>
      <p:italic r:id="rId22"/>
      <p:boldItalic r:id="rId23"/>
    </p:embeddedFont>
    <p:embeddedFont>
      <p:font typeface="IBM Plex Sans" panose="020B0503050203000203" pitchFamily="34" charset="0"/>
      <p:regular r:id="rId24"/>
      <p:bold r:id="rId25"/>
      <p:italic r:id="rId26"/>
      <p:boldItalic r:id="rId27"/>
    </p:embeddedFont>
    <p:embeddedFont>
      <p:font typeface="IBM Plex Sans Light" panose="020B0403050203000203" pitchFamily="34" charset="0"/>
      <p:regular r:id="rId28"/>
      <p:bold r:id="rId29"/>
      <p:italic r:id="rId30"/>
      <p:boldItalic r:id="rId31"/>
    </p:embeddedFont>
    <p:embeddedFont>
      <p:font typeface="IBM Plex Sans Medium" panose="020B0603050203000203" pitchFamily="34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Hairline" panose="020F0202020204030203" pitchFamily="34" charset="0"/>
      <p:regular r:id="rId40"/>
      <p:bold r:id="rId41"/>
      <p:italic r:id="rId42"/>
      <p:boldItalic r:id="rId43"/>
    </p:embeddedFont>
    <p:embeddedFont>
      <p:font typeface="Lato Light" panose="020F0302020204030203" pitchFamily="34" charset="0"/>
      <p:regular r:id="rId44"/>
      <p:bold r:id="rId45"/>
      <p:italic r:id="rId46"/>
      <p:boldItalic r:id="rId47"/>
    </p:embeddedFont>
    <p:embeddedFont>
      <p:font typeface="Lexend Deca" panose="020B0604020202020204" charset="0"/>
      <p:regular r:id="rId48"/>
      <p:bold r:id="rId49"/>
    </p:embeddedFont>
    <p:embeddedFont>
      <p:font typeface="Nunito" pitchFamily="2" charset="0"/>
      <p:regular r:id="rId50"/>
      <p:bold r:id="rId51"/>
      <p:italic r:id="rId52"/>
      <p:boldItalic r:id="rId53"/>
    </p:embeddedFont>
    <p:embeddedFont>
      <p:font typeface="Plus Jakarta Sans" pitchFamily="2" charset="0"/>
      <p:regular r:id="rId54"/>
      <p:bold r:id="rId55"/>
      <p:italic r:id="rId56"/>
      <p:boldItalic r:id="rId57"/>
    </p:embeddedFont>
    <p:embeddedFont>
      <p:font typeface="Quicksand" panose="020B0604020202020204" charset="0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6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0" y="84"/>
      </p:cViewPr>
      <p:guideLst>
        <p:guide orient="horz" pos="3240"/>
        <p:guide pos="6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openxmlformats.org/officeDocument/2006/relationships/font" Target="fonts/font32.fntdata"/><Relationship Id="rId21" Type="http://schemas.openxmlformats.org/officeDocument/2006/relationships/font" Target="fonts/font14.fntdata"/><Relationship Id="rId34" Type="http://schemas.openxmlformats.org/officeDocument/2006/relationships/font" Target="fonts/font27.fntdata"/><Relationship Id="rId42" Type="http://schemas.openxmlformats.org/officeDocument/2006/relationships/font" Target="fonts/font35.fntdata"/><Relationship Id="rId47" Type="http://schemas.openxmlformats.org/officeDocument/2006/relationships/font" Target="fonts/font40.fntdata"/><Relationship Id="rId50" Type="http://schemas.openxmlformats.org/officeDocument/2006/relationships/font" Target="fonts/font43.fntdata"/><Relationship Id="rId55" Type="http://schemas.openxmlformats.org/officeDocument/2006/relationships/font" Target="fonts/font48.fntdata"/><Relationship Id="rId63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9" Type="http://schemas.openxmlformats.org/officeDocument/2006/relationships/font" Target="fonts/font22.fntdata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font" Target="fonts/font30.fntdata"/><Relationship Id="rId40" Type="http://schemas.openxmlformats.org/officeDocument/2006/relationships/font" Target="fonts/font33.fntdata"/><Relationship Id="rId45" Type="http://schemas.openxmlformats.org/officeDocument/2006/relationships/font" Target="fonts/font38.fntdata"/><Relationship Id="rId53" Type="http://schemas.openxmlformats.org/officeDocument/2006/relationships/font" Target="fonts/font46.fntdata"/><Relationship Id="rId58" Type="http://schemas.openxmlformats.org/officeDocument/2006/relationships/font" Target="fonts/font51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font" Target="fonts/font1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font" Target="fonts/font28.fntdata"/><Relationship Id="rId43" Type="http://schemas.openxmlformats.org/officeDocument/2006/relationships/font" Target="fonts/font36.fntdata"/><Relationship Id="rId48" Type="http://schemas.openxmlformats.org/officeDocument/2006/relationships/font" Target="fonts/font41.fntdata"/><Relationship Id="rId56" Type="http://schemas.openxmlformats.org/officeDocument/2006/relationships/font" Target="fonts/font49.fntdata"/><Relationship Id="rId64" Type="http://schemas.microsoft.com/office/2016/11/relationships/changesInfo" Target="changesInfos/changesInfo1.xml"/><Relationship Id="rId8" Type="http://schemas.openxmlformats.org/officeDocument/2006/relationships/font" Target="fonts/font1.fntdata"/><Relationship Id="rId51" Type="http://schemas.openxmlformats.org/officeDocument/2006/relationships/font" Target="fonts/font44.fntdata"/><Relationship Id="rId3" Type="http://schemas.openxmlformats.org/officeDocument/2006/relationships/slide" Target="slides/slide2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font" Target="fonts/font31.fntdata"/><Relationship Id="rId46" Type="http://schemas.openxmlformats.org/officeDocument/2006/relationships/font" Target="fonts/font39.fntdata"/><Relationship Id="rId59" Type="http://schemas.openxmlformats.org/officeDocument/2006/relationships/font" Target="fonts/font52.fntdata"/><Relationship Id="rId20" Type="http://schemas.openxmlformats.org/officeDocument/2006/relationships/font" Target="fonts/font13.fntdata"/><Relationship Id="rId41" Type="http://schemas.openxmlformats.org/officeDocument/2006/relationships/font" Target="fonts/font34.fntdata"/><Relationship Id="rId54" Type="http://schemas.openxmlformats.org/officeDocument/2006/relationships/font" Target="fonts/font47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font" Target="fonts/font29.fntdata"/><Relationship Id="rId49" Type="http://schemas.openxmlformats.org/officeDocument/2006/relationships/font" Target="fonts/font42.fntdata"/><Relationship Id="rId57" Type="http://schemas.openxmlformats.org/officeDocument/2006/relationships/font" Target="fonts/font50.fntdata"/><Relationship Id="rId10" Type="http://schemas.openxmlformats.org/officeDocument/2006/relationships/font" Target="fonts/font3.fntdata"/><Relationship Id="rId31" Type="http://schemas.openxmlformats.org/officeDocument/2006/relationships/font" Target="fonts/font24.fntdata"/><Relationship Id="rId44" Type="http://schemas.openxmlformats.org/officeDocument/2006/relationships/font" Target="fonts/font37.fntdata"/><Relationship Id="rId52" Type="http://schemas.openxmlformats.org/officeDocument/2006/relationships/font" Target="fonts/font45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yzed.com" userId="aaed2106-48f5-4a15-b1fa-35c21b04e48b" providerId="ADAL" clId="{4614826B-B488-4E05-8780-12923E585C6C}"/>
    <pc:docChg chg="undo custSel addSld modSld">
      <pc:chgData name="anilyzed.com" userId="aaed2106-48f5-4a15-b1fa-35c21b04e48b" providerId="ADAL" clId="{4614826B-B488-4E05-8780-12923E585C6C}" dt="2026-08-12T08:40:56.736" v="240" actId="20577"/>
      <pc:docMkLst>
        <pc:docMk/>
      </pc:docMkLst>
      <pc:sldChg chg="addSp delSp modSp add mod">
        <pc:chgData name="anilyzed.com" userId="aaed2106-48f5-4a15-b1fa-35c21b04e48b" providerId="ADAL" clId="{4614826B-B488-4E05-8780-12923E585C6C}" dt="2026-08-12T08:40:56.736" v="240" actId="20577"/>
        <pc:sldMkLst>
          <pc:docMk/>
          <pc:sldMk cId="3297473499" sldId="260"/>
        </pc:sldMkLst>
        <pc:spChg chg="mod">
          <ac:chgData name="anilyzed.com" userId="aaed2106-48f5-4a15-b1fa-35c21b04e48b" providerId="ADAL" clId="{4614826B-B488-4E05-8780-12923E585C6C}" dt="2026-08-12T08:40:56.736" v="240" actId="20577"/>
          <ac:spMkLst>
            <pc:docMk/>
            <pc:sldMk cId="3297473499" sldId="260"/>
            <ac:spMk id="76" creationId="{1159484F-C97C-A6BF-671B-A7F43181712A}"/>
          </ac:spMkLst>
        </pc:spChg>
        <pc:picChg chg="add">
          <ac:chgData name="anilyzed.com" userId="aaed2106-48f5-4a15-b1fa-35c21b04e48b" providerId="ADAL" clId="{4614826B-B488-4E05-8780-12923E585C6C}" dt="2026-08-10T09:40:54.129" v="10" actId="22"/>
          <ac:picMkLst>
            <pc:docMk/>
            <pc:sldMk cId="3297473499" sldId="260"/>
            <ac:picMk id="5" creationId="{4285346C-9399-0DAC-00F6-9F2F0EBEEE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8109" y="685800"/>
            <a:ext cx="6502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dced94db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090" y="685800"/>
            <a:ext cx="6502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dced94db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bdced94d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090" y="685800"/>
            <a:ext cx="6502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bdced94d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2c0b8de0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090" y="685800"/>
            <a:ext cx="6502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2c0b8de0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cc5127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090" y="685800"/>
            <a:ext cx="6502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cc5127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F13C25F-8CBE-54E3-998F-6E566E1A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cc5127fba_0_0:notes">
            <a:extLst>
              <a:ext uri="{FF2B5EF4-FFF2-40B4-BE49-F238E27FC236}">
                <a16:creationId xmlns:a16="http://schemas.microsoft.com/office/drawing/2014/main" id="{CC86B8AA-24CF-E12B-6D69-695F00F94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7800" y="685800"/>
            <a:ext cx="6502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cc5127fba_0_0:notes">
            <a:extLst>
              <a:ext uri="{FF2B5EF4-FFF2-40B4-BE49-F238E27FC236}">
                <a16:creationId xmlns:a16="http://schemas.microsoft.com/office/drawing/2014/main" id="{8BE0BB71-8D11-D8BA-7121-579BB4548C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00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64978" y="1489150"/>
            <a:ext cx="18177300" cy="4105200"/>
          </a:xfrm>
          <a:prstGeom prst="rect">
            <a:avLst/>
          </a:prstGeom>
        </p:spPr>
        <p:txBody>
          <a:bodyPr spcFirstLastPara="1" wrap="square" lIns="181600" tIns="181600" rIns="181600" bIns="181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300"/>
              <a:buNone/>
              <a:defRPr sz="103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64960" y="5668250"/>
            <a:ext cx="18177300" cy="15852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4960" y="4301700"/>
            <a:ext cx="18177300" cy="16836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2pPr>
            <a:lvl3pPr lvl="2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3pPr>
            <a:lvl4pPr lvl="3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4pPr>
            <a:lvl5pPr lvl="4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5pPr>
            <a:lvl6pPr lvl="5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6pPr>
            <a:lvl7pPr lvl="6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7pPr>
            <a:lvl8pPr lvl="7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8pPr>
            <a:lvl9pPr lvl="8" algn="ctr">
              <a:spcBef>
                <a:spcPts val="0"/>
              </a:spcBef>
              <a:spcAft>
                <a:spcPts val="0"/>
              </a:spcAft>
              <a:buSzPts val="7100"/>
              <a:buNone/>
              <a:defRPr sz="71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64960" y="890050"/>
            <a:ext cx="18177300" cy="11454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64960" y="2304950"/>
            <a:ext cx="18177300" cy="68328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64960" y="890050"/>
            <a:ext cx="18177300" cy="11454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64960" y="2304950"/>
            <a:ext cx="8533200" cy="68328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0309120" y="2304950"/>
            <a:ext cx="8533200" cy="68328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64960" y="890050"/>
            <a:ext cx="18177300" cy="11454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64960" y="1111200"/>
            <a:ext cx="5990400" cy="1511400"/>
          </a:xfrm>
          <a:prstGeom prst="rect">
            <a:avLst/>
          </a:prstGeom>
        </p:spPr>
        <p:txBody>
          <a:bodyPr spcFirstLastPara="1" wrap="square" lIns="181600" tIns="181600" rIns="181600" bIns="181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64960" y="2779200"/>
            <a:ext cx="5990400" cy="63588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045867" y="900300"/>
            <a:ext cx="13584900" cy="81816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753600" y="-250"/>
            <a:ext cx="97536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1600" tIns="181600" rIns="181600" bIns="181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66400" y="2466350"/>
            <a:ext cx="8629500" cy="2964600"/>
          </a:xfrm>
          <a:prstGeom prst="rect">
            <a:avLst/>
          </a:prstGeom>
        </p:spPr>
        <p:txBody>
          <a:bodyPr spcFirstLastPara="1" wrap="square" lIns="181600" tIns="181600" rIns="181600" bIns="181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66400" y="5606150"/>
            <a:ext cx="8629500" cy="24702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0537600" y="1448150"/>
            <a:ext cx="8185800" cy="73902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64960" y="8461150"/>
            <a:ext cx="12797700" cy="12102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64960" y="2212250"/>
            <a:ext cx="18177300" cy="3927300"/>
          </a:xfrm>
          <a:prstGeom prst="rect">
            <a:avLst/>
          </a:prstGeom>
        </p:spPr>
        <p:txBody>
          <a:bodyPr spcFirstLastPara="1" wrap="square" lIns="181600" tIns="181600" rIns="181600" bIns="181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800"/>
              <a:buNone/>
              <a:defRPr sz="23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64960" y="6304450"/>
            <a:ext cx="18177300" cy="2601600"/>
          </a:xfrm>
          <a:prstGeom prst="rect">
            <a:avLst/>
          </a:prstGeom>
        </p:spPr>
        <p:txBody>
          <a:bodyPr spcFirstLastPara="1" wrap="square" lIns="181600" tIns="181600" rIns="181600" bIns="18160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4960" y="890050"/>
            <a:ext cx="181773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1600" tIns="181600" rIns="181600" bIns="181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64960" y="2304950"/>
            <a:ext cx="181773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1600" tIns="181600" rIns="181600" bIns="18160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8074577" y="9326434"/>
            <a:ext cx="1170300" cy="7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1600" tIns="181600" rIns="181600" bIns="181600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45" y="0"/>
            <a:ext cx="160734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3352864" y="0"/>
            <a:ext cx="5444400" cy="10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00" tIns="112300" rIns="112300" bIns="11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imss.co.in/</a:t>
            </a:r>
            <a:r>
              <a:rPr lang="en" sz="20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rPr>
              <a:t>e3</a:t>
            </a:r>
            <a:endParaRPr sz="4500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Be a disruptor, </a:t>
            </a:r>
            <a:endParaRPr sz="4400">
              <a:solidFill>
                <a:srgbClr val="FFFFFF"/>
              </a:solidFill>
              <a:latin typeface="Lato Hairline"/>
              <a:ea typeface="Lato Hairline"/>
              <a:cs typeface="Lato Hairline"/>
              <a:sym typeface="Lato Hairli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 avoid disruption. </a:t>
            </a:r>
            <a:endParaRPr sz="27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aseline="30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r>
              <a:rPr lang="en" sz="17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Enterprise Opensource</a:t>
            </a:r>
            <a:endParaRPr sz="17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aseline="300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r>
              <a:rPr lang="en" sz="17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Enterprise Digital</a:t>
            </a:r>
            <a:endParaRPr sz="17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aseline="300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r>
              <a:rPr lang="en" sz="17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Expert Consulting </a:t>
            </a:r>
            <a:endParaRPr sz="17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155CC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For employee help, write to</a:t>
            </a:r>
            <a:endParaRPr sz="1800">
              <a:solidFill>
                <a:srgbClr val="FF99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people@imss.co.in</a:t>
            </a:r>
            <a:endParaRPr sz="18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Or visit</a:t>
            </a:r>
            <a:endParaRPr sz="1800">
              <a:solidFill>
                <a:srgbClr val="FF99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www.myimss.work</a:t>
            </a:r>
            <a:endParaRPr sz="18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2864" y="5276022"/>
            <a:ext cx="1745327" cy="904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795" y="0"/>
            <a:ext cx="160734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4576814" y="0"/>
            <a:ext cx="5444400" cy="10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00" tIns="112300" rIns="112300" bIns="11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Nunito"/>
                <a:ea typeface="Nunito"/>
                <a:cs typeface="Nunito"/>
                <a:sym typeface="Nunito"/>
              </a:rPr>
              <a:t>imss.co.in</a:t>
            </a:r>
            <a:endParaRPr sz="1500" b="1">
              <a:solidFill>
                <a:srgbClr val="FF99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Embrace a mindset of </a:t>
            </a:r>
            <a:r>
              <a:rPr lang="en" sz="44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connected growth. </a:t>
            </a:r>
            <a:endParaRPr sz="27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4D Enterprise Transformation</a:t>
            </a:r>
            <a:endParaRPr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155CC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99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For employee help, write to</a:t>
            </a:r>
            <a:endParaRPr sz="1500">
              <a:solidFill>
                <a:srgbClr val="FF99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people@imss.co.in</a:t>
            </a:r>
            <a:endParaRPr sz="1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99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Or visit</a:t>
            </a:r>
            <a:endParaRPr sz="1500">
              <a:solidFill>
                <a:srgbClr val="FF99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www.myimss.work</a:t>
            </a:r>
            <a:endParaRPr sz="1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814" y="5212997"/>
            <a:ext cx="1745327" cy="904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795" y="0"/>
            <a:ext cx="160734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4576814" y="0"/>
            <a:ext cx="5444400" cy="10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00" tIns="112300" rIns="112300" bIns="11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Lato Hairline"/>
                <a:ea typeface="Lato Hairline"/>
                <a:cs typeface="Lato Hairline"/>
                <a:sym typeface="Lato Hairline"/>
              </a:rPr>
              <a:t>Embrace a mindset of </a:t>
            </a:r>
            <a:r>
              <a:rPr lang="en" sz="44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connected growth. </a:t>
            </a:r>
            <a:endParaRPr sz="27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" sz="1700" baseline="30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r>
              <a:rPr lang="en" sz="1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UTOMATE . A</a:t>
            </a:r>
            <a:r>
              <a:rPr lang="en" sz="1700" baseline="30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r>
              <a:rPr lang="en" sz="1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CCELERATE . A</a:t>
            </a:r>
            <a:r>
              <a:rPr lang="en" sz="1700" baseline="30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r>
              <a:rPr lang="en" sz="17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SSURE . DIGITAL</a:t>
            </a:r>
            <a:endParaRPr sz="1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155CC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99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For employee help, write to</a:t>
            </a:r>
            <a:endParaRPr sz="1500">
              <a:solidFill>
                <a:srgbClr val="FF99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people@imss.co.in</a:t>
            </a:r>
            <a:endParaRPr sz="1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99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Or visit</a:t>
            </a:r>
            <a:endParaRPr sz="1500">
              <a:solidFill>
                <a:srgbClr val="FF99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www.myimss.work</a:t>
            </a:r>
            <a:endParaRPr sz="1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825" y="5371450"/>
            <a:ext cx="1141025" cy="72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795" y="0"/>
            <a:ext cx="160734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4576814" y="0"/>
            <a:ext cx="5444400" cy="10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00" tIns="112300" rIns="112300" bIns="11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Nunito"/>
                <a:ea typeface="Nunito"/>
                <a:cs typeface="Nunito"/>
                <a:sym typeface="Nunito"/>
              </a:rPr>
              <a:t>imss.co.in</a:t>
            </a:r>
            <a:endParaRPr sz="1500" b="1">
              <a:solidFill>
                <a:srgbClr val="FF99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FFFFF"/>
                </a:solidFill>
                <a:latin typeface="Archivo Thin"/>
                <a:ea typeface="Archivo Thin"/>
                <a:cs typeface="Archivo Thin"/>
                <a:sym typeface="Archivo Thin"/>
              </a:rPr>
              <a:t>Embrace a mindset of </a:t>
            </a:r>
            <a:r>
              <a:rPr lang="en" sz="4400" b="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connected growth. </a:t>
            </a:r>
            <a:endParaRPr sz="2700">
              <a:solidFill>
                <a:srgbClr val="FFFFFF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aseline="300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1</a:t>
            </a:r>
            <a:r>
              <a:rPr lang="en" sz="17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Enterprise Opensource</a:t>
            </a:r>
            <a:endParaRPr sz="17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aseline="300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2</a:t>
            </a:r>
            <a:r>
              <a:rPr lang="en" sz="17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Enterprise Digital</a:t>
            </a:r>
            <a:endParaRPr sz="17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aseline="300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3</a:t>
            </a:r>
            <a:r>
              <a:rPr lang="en" sz="17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Expert Consulting </a:t>
            </a:r>
            <a:endParaRPr sz="17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155CC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9900"/>
                </a:solidFill>
                <a:latin typeface="Archivo Light"/>
                <a:ea typeface="Archivo Light"/>
                <a:cs typeface="Archivo Light"/>
                <a:sym typeface="Archivo Light"/>
              </a:rPr>
              <a:t>For employee help, write to</a:t>
            </a:r>
            <a:endParaRPr sz="1500">
              <a:solidFill>
                <a:srgbClr val="FF9900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people@imss.co.in</a:t>
            </a:r>
            <a:endParaRPr sz="1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9900"/>
                </a:solidFill>
                <a:latin typeface="Archivo Light"/>
                <a:ea typeface="Archivo Light"/>
                <a:cs typeface="Archivo Light"/>
                <a:sym typeface="Archivo Light"/>
              </a:rPr>
              <a:t>Or visit</a:t>
            </a:r>
            <a:endParaRPr sz="1500">
              <a:solidFill>
                <a:srgbClr val="FF9900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www.myimss.work</a:t>
            </a:r>
            <a:endParaRPr sz="1500" b="1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189" y="5490297"/>
            <a:ext cx="1745327" cy="904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39BEA721-9514-656E-0A27-A2618933C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>
            <a:extLst>
              <a:ext uri="{FF2B5EF4-FFF2-40B4-BE49-F238E27FC236}">
                <a16:creationId xmlns:a16="http://schemas.microsoft.com/office/drawing/2014/main" id="{7C6A9F1F-841A-E9A5-8665-D6C7EBB4CF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795" y="0"/>
            <a:ext cx="160734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>
            <a:extLst>
              <a:ext uri="{FF2B5EF4-FFF2-40B4-BE49-F238E27FC236}">
                <a16:creationId xmlns:a16="http://schemas.microsoft.com/office/drawing/2014/main" id="{1159484F-C97C-A6BF-671B-A7F43181712A}"/>
              </a:ext>
            </a:extLst>
          </p:cNvPr>
          <p:cNvSpPr/>
          <p:nvPr/>
        </p:nvSpPr>
        <p:spPr>
          <a:xfrm>
            <a:off x="4576814" y="0"/>
            <a:ext cx="5444400" cy="10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00" tIns="112300" rIns="112300" bIns="112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9900"/>
                </a:solidFill>
                <a:latin typeface="Plus Jakarta Sans" pitchFamily="2" charset="0"/>
                <a:ea typeface="Nunito"/>
                <a:cs typeface="Plus Jakarta Sans" pitchFamily="2" charset="0"/>
                <a:sym typeface="Nunito"/>
              </a:rPr>
              <a:t>ariviti.com</a:t>
            </a:r>
            <a:endParaRPr sz="1800" b="1" dirty="0">
              <a:solidFill>
                <a:srgbClr val="FF9900"/>
              </a:solidFill>
              <a:latin typeface="Plus Jakarta Sans" pitchFamily="2" charset="0"/>
              <a:ea typeface="Nunito"/>
              <a:cs typeface="Plus Jakarta Sans" pitchFamily="2" charset="0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FFFFFF"/>
                </a:solidFill>
                <a:latin typeface="Archivo Thin"/>
                <a:ea typeface="Archivo Thin"/>
                <a:cs typeface="Archivo Thin"/>
                <a:sym typeface="Archivo Thin"/>
              </a:rPr>
              <a:t>AI is easy.</a:t>
            </a:r>
            <a:r>
              <a:rPr lang="en-US" sz="4400" dirty="0">
                <a:solidFill>
                  <a:srgbClr val="FFFFFF"/>
                </a:solidFill>
                <a:latin typeface="Archivo Thin"/>
                <a:ea typeface="Archivo Thin"/>
                <a:cs typeface="Archivo Thin"/>
                <a:sym typeface="Archivo Thin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Impact is hard. </a:t>
            </a:r>
            <a:endParaRPr lang="en-US" sz="2700" dirty="0">
              <a:solidFill>
                <a:srgbClr val="FFFFFF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Measurable Outcomes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Human in the Lead (not just loop)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7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Repeatable, Responsible, Scalable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7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155CC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9900"/>
                </a:solidFill>
                <a:latin typeface="Archivo Light"/>
                <a:ea typeface="Archivo Light"/>
                <a:cs typeface="Archivo Light"/>
                <a:sym typeface="Archivo Light"/>
              </a:rPr>
              <a:t>For employee help, write to</a:t>
            </a:r>
            <a:endParaRPr sz="1500" dirty="0">
              <a:solidFill>
                <a:srgbClr val="FF9900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people@ariviti.co.in</a:t>
            </a:r>
            <a:endParaRPr sz="1600" b="1" dirty="0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9900"/>
                </a:solidFill>
                <a:latin typeface="Archivo Light"/>
                <a:ea typeface="Archivo Light"/>
                <a:cs typeface="Archivo Light"/>
                <a:sym typeface="Archivo Light"/>
              </a:rPr>
              <a:t>Or visit</a:t>
            </a:r>
            <a:endParaRPr sz="1500" dirty="0">
              <a:solidFill>
                <a:srgbClr val="FF9900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99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ariviti.co.in</a:t>
            </a:r>
            <a:endParaRPr sz="1600" b="1" dirty="0">
              <a:solidFill>
                <a:srgbClr val="FF99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5346C-9399-0DAC-00F6-9F2F0EBEE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189" y="5417906"/>
            <a:ext cx="2792626" cy="104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734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Custom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21" baseType="lpstr">
      <vt:lpstr>Archivo Medium</vt:lpstr>
      <vt:lpstr>Plus Jakarta Sans</vt:lpstr>
      <vt:lpstr>Quicksand</vt:lpstr>
      <vt:lpstr>IBM Plex Sans</vt:lpstr>
      <vt:lpstr>IBM Plex Sans Light</vt:lpstr>
      <vt:lpstr>Nunito</vt:lpstr>
      <vt:lpstr>Lato Hairline</vt:lpstr>
      <vt:lpstr>Lato Light</vt:lpstr>
      <vt:lpstr>Lexend Deca</vt:lpstr>
      <vt:lpstr>Archivo Light</vt:lpstr>
      <vt:lpstr>Archivo</vt:lpstr>
      <vt:lpstr>IBM Plex Sans Medium</vt:lpstr>
      <vt:lpstr>Archivo Thin</vt:lpstr>
      <vt:lpstr>Lato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Anilyzed</dc:creator>
  <cp:lastModifiedBy>Anilyzed</cp:lastModifiedBy>
  <cp:revision>1</cp:revision>
  <dcterms:modified xsi:type="dcterms:W3CDTF">2026-08-12T08:41:02Z</dcterms:modified>
</cp:coreProperties>
</file>