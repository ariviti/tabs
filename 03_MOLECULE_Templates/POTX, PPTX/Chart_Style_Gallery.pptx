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ECEDF6"/>
            </a:solidFill>
            <a:effectLst/>
          </c:spPr>
          <c:invertIfNegative val="0"/>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100</c:v>
                </c:pt>
                <c:pt idx="1">
                  <c:v>100</c:v>
                </c:pt>
                <c:pt idx="2">
                  <c:v>100</c:v>
                </c:pt>
                <c:pt idx="3">
                  <c:v>100</c:v>
                </c:pt>
              </c:numCache>
            </c:numRef>
          </c:val>
        </c:ser>
        <c:ser>
          <c:idx val="1"/>
          <c:order val="1"/>
          <c:tx>
            <c:strRef>
              <c:f>Sheet1!$C$1</c:f>
              <c:strCache>
                <c:ptCount val="1"/>
                <c:pt idx="0">
                  <c:v>After</c:v>
                </c:pt>
              </c:strCache>
            </c:strRef>
          </c:tx>
          <c:spPr>
            <a:solidFill>
              <a:srgbClr val="FF4D1C"/>
            </a:solidFill>
            <a:effectLst/>
          </c:spPr>
          <c:invertIfNegative val="0"/>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62</c:v>
                </c:pt>
                <c:pt idx="1">
                  <c:v>55</c:v>
                </c:pt>
                <c:pt idx="2">
                  <c:v>48</c:v>
                </c:pt>
                <c:pt idx="3">
                  <c:v>40</c:v>
                </c:pt>
              </c:numCache>
            </c:numRef>
          </c:val>
        </c:ser>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Plus Jakarta Sans"/>
              <a:cs typeface="Plus Jakarta Sa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Adoption</c:v>
                </c:pt>
              </c:strCache>
            </c:strRef>
          </c:tx>
          <c:spPr>
            <a:solidFill>
              <a:srgbClr val="3B3EA9"/>
            </a:solidFill>
            <a:ln w="38100" cap="flat">
              <a:solidFill>
                <a:srgbClr val="3B3EA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B3EA9"/>
              </a:solidFill>
              <a:ln w="9525" cap="flat">
                <a:solidFill>
                  <a:srgbClr val="3B3EA9"/>
                </a:solidFill>
                <a:prstDash val="solid"/>
                <a:round/>
              </a:ln>
              <a:effectLst/>
            </c:spPr>
          </c:marker>
          <c:cat>
            <c:multiLvlStrRef>
              <c:f>Sheet1!$A$2:$A$6</c:f>
              <c:multiLvlStrCache>
                <c:ptCount val="5"/>
                <c:lvl>
                  <c:pt idx="0">
                    <c:v>W1</c:v>
                  </c:pt>
                  <c:pt idx="1">
                    <c:v>W4</c:v>
                  </c:pt>
                  <c:pt idx="2">
                    <c:v>W8</c:v>
                  </c:pt>
                  <c:pt idx="3">
                    <c:v>W12</c:v>
                  </c:pt>
                  <c:pt idx="4">
                    <c:v>W16</c:v>
                  </c:pt>
                </c:lvl>
              </c:multiLvlStrCache>
            </c:multiLvlStrRef>
          </c:cat>
          <c:val>
            <c:numRef>
              <c:f>Sheet1!$B$2:$B$6</c:f>
              <c:numCache>
                <c:formatCode>General</c:formatCode>
                <c:ptCount val="5"/>
                <c:pt idx="0">
                  <c:v>12</c:v>
                </c:pt>
                <c:pt idx="1">
                  <c:v>28</c:v>
                </c:pt>
                <c:pt idx="2">
                  <c:v>44</c:v>
                </c:pt>
                <c:pt idx="3">
                  <c:v>68</c:v>
                </c:pt>
                <c:pt idx="4">
                  <c:v>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1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76"/>
                </a:solidFill>
                <a:latin typeface="Plus Jakarta San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FF4D1C"/>
              </a:solidFill>
              <a:effectLst/>
            </c:spPr>
          </c:dPt>
          <c:dPt>
            <c:idx val="1"/>
            <c:bubble3D val="0"/>
            <c:spPr>
              <a:solidFill>
                <a:srgbClr val="3B3EA9"/>
              </a:solidFill>
              <a:effectLst/>
            </c:spPr>
          </c:dPt>
          <c:dPt>
            <c:idx val="2"/>
            <c:bubble3D val="0"/>
            <c:spPr>
              <a:solidFill>
                <a:srgbClr val="ECEDF6"/>
              </a:solidFill>
              <a:effectLst/>
            </c:spPr>
          </c:dPt>
          <c:dLbls>
            <c:dLbl>
              <c:idx val="0"/>
              <c:numFmt formatCode="General" sourceLinked="0"/>
              <c:spPr/>
              <c:txPr>
                <a:bodyPr/>
                <a:lstStyle/>
                <a:p>
                  <a:pPr>
                    <a:defRPr sz="1100" b="0" i="0" u="none" strike="noStrike">
                      <a:solidFill>
                        <a:srgbClr val="FFFFFF"/>
                      </a:solidFill>
                      <a:latin typeface="Plus Jakarta Sans"/>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Plus Jakarta Sans"/>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Plus Jakarta Sans"/>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Automated</c:v>
                </c:pt>
                <c:pt idx="1">
                  <c:v>Human-reviewed</c:v>
                </c:pt>
                <c:pt idx="2">
                  <c:v>Manual</c:v>
                </c:pt>
              </c:strCache>
            </c:strRef>
          </c:cat>
          <c:val>
            <c:numRef>
              <c:f>Sheet1!$B$2:$B$4</c:f>
              <c:numCache>
                <c:ptCount val="3"/>
                <c:pt idx="0">
                  <c:v>58</c:v>
                </c:pt>
                <c:pt idx="1">
                  <c:v>30</c:v>
                </c:pt>
                <c:pt idx="2">
                  <c:v>12</c:v>
                </c:pt>
              </c:numCache>
            </c:numRef>
          </c:val>
        </c:ser>
        <c:firstSliceAng val="0"/>
        <c:holeSize val="60"/>
      </c:doughnutChart>
      <c:spPr>
        <a:noFill/>
        <a:ln>
          <a:noFill/>
        </a:ln>
        <a:effectLst/>
      </c:spPr>
    </c:plotArea>
    <c:legend>
      <c:legendPos val="r"/>
      <c:overlay val="0"/>
      <c:txPr>
        <a:bodyPr/>
        <a:lstStyle/>
        <a:p>
          <a:pPr>
            <a:defRPr sz="1100">
              <a:latin typeface="Plus Jakarta Sans"/>
              <a:cs typeface="Plus Jakarta Sans"/>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cat>
            <c:multiLvlStrRef>
              <c:f>Sheet1!$A$2:$A$6</c:f>
              <c:multiLvlStrCache>
                <c:ptCount val="5"/>
                <c:lvl>
                  <c:pt idx="0">
                    <c:v>Start</c:v>
                  </c:pt>
                  <c:pt idx="1">
                    <c:v>Savings</c:v>
                  </c:pt>
                  <c:pt idx="2">
                    <c:v>New cost</c:v>
                  </c:pt>
                  <c:pt idx="3">
                    <c:v>Efficiency</c:v>
                  </c:pt>
                  <c:pt idx="4">
                    <c:v>End</c:v>
                  </c:pt>
                </c:lvl>
              </c:multiLvlStrCache>
            </c:multiLvlStrRef>
          </c:cat>
          <c:val>
            <c:numRef>
              <c:f>Sheet1!$B$2:$B$6</c:f>
              <c:numCache>
                <c:formatCode>General</c:formatCode>
                <c:ptCount val="5"/>
                <c:pt idx="0">
                  <c:v>0</c:v>
                </c:pt>
                <c:pt idx="1">
                  <c:v>58</c:v>
                </c:pt>
                <c:pt idx="2">
                  <c:v>58</c:v>
                </c:pt>
                <c:pt idx="3">
                  <c:v>40</c:v>
                </c:pt>
                <c:pt idx="4">
                  <c:v>0</c:v>
                </c:pt>
              </c:numCache>
            </c:numRef>
          </c:val>
        </c:ser>
        <c:ser>
          <c:idx val="1"/>
          <c:order val="1"/>
          <c:tx>
            <c:strRef>
              <c:f>Sheet1!$C$1</c:f>
              <c:strCache>
                <c:ptCount val="1"/>
                <c:pt idx="0">
                  <c:v>Value</c:v>
                </c:pt>
              </c:strCache>
            </c:strRef>
          </c:tx>
          <c:spPr>
            <a:solidFill>
              <a:srgbClr val="3B3EA9"/>
            </a:solidFill>
            <a:effectLst/>
          </c:spPr>
          <c:invertIfNegative val="0"/>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cat>
            <c:multiLvlStrRef>
              <c:f>Sheet1!$A$2:$A$6</c:f>
              <c:multiLvlStrCache>
                <c:ptCount val="5"/>
                <c:lvl>
                  <c:pt idx="0">
                    <c:v>Start</c:v>
                  </c:pt>
                  <c:pt idx="1">
                    <c:v>Savings</c:v>
                  </c:pt>
                  <c:pt idx="2">
                    <c:v>New cost</c:v>
                  </c:pt>
                  <c:pt idx="3">
                    <c:v>Efficiency</c:v>
                  </c:pt>
                  <c:pt idx="4">
                    <c:v>End</c:v>
                  </c:pt>
                </c:lvl>
              </c:multiLvlStrCache>
            </c:multiLvlStrRef>
          </c:cat>
          <c:val>
            <c:numRef>
              <c:f>Sheet1!$C$2:$C$6</c:f>
              <c:numCache>
                <c:formatCode>General</c:formatCode>
                <c:ptCount val="5"/>
                <c:pt idx="0">
                  <c:v>100</c:v>
                </c:pt>
                <c:pt idx="1">
                  <c:v>25</c:v>
                </c:pt>
                <c:pt idx="2">
                  <c:v>-18</c:v>
                </c:pt>
                <c:pt idx="3">
                  <c:v>15</c:v>
                </c:pt>
                <c:pt idx="4">
                  <c:v>122</c:v>
                </c:pt>
              </c:numCache>
            </c:numRef>
          </c:val>
        </c:ser>
        <c:dLbls>
          <c:numFmt formatCode="#,##0" sourceLinked="0"/>
          <c:txPr>
            <a:bodyPr/>
            <a:lstStyle/>
            <a:p>
              <a:pPr>
                <a:defRPr b="0" i="0" strike="noStrike" sz="1000" u="none">
                  <a:solidFill>
                    <a:srgbClr val="2E2E2E"/>
                  </a:solidFill>
                  <a:latin typeface="Plus Jakarta Sans"/>
                </a:defRPr>
              </a:pPr>
            </a:p>
          </c:txP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320040"/>
            <a:ext cx="1828800" cy="320040"/>
          </a:xfrm>
          <a:prstGeom prst="rect">
            <a:avLst/>
          </a:prstGeom>
          <a:noFill/>
          <a:ln/>
        </p:spPr>
        <p:txBody>
          <a:bodyPr wrap="square" rtlCol="0" anchor="ctr"/>
          <a:lstStyle/>
          <a:p>
            <a:pPr indent="0" marL="0">
              <a:buNone/>
            </a:pPr>
            <a:r>
              <a:rPr lang="en-US" sz="1400" b="1" dirty="0">
                <a:solidFill>
                  <a:srgbClr val="FF4D1C"/>
                </a:solidFill>
                <a:latin typeface="Space Grotesk" pitchFamily="34" charset="0"/>
                <a:ea typeface="Space Grotesk" pitchFamily="34" charset="-122"/>
                <a:cs typeface="Space Grotesk" pitchFamily="34" charset="-120"/>
              </a:rPr>
              <a:t>a</a:t>
            </a:r>
            <a:pPr indent="0" marL="0">
              <a:buNone/>
            </a:pPr>
            <a:r>
              <a:rPr lang="en-US" sz="1400" b="1" dirty="0">
                <a:solidFill>
                  <a:srgbClr val="3B3EA9"/>
                </a:solidFill>
                <a:latin typeface="Space Grotesk" pitchFamily="34" charset="0"/>
                <a:ea typeface="Space Grotesk" pitchFamily="34" charset="-122"/>
                <a:cs typeface="Space Grotesk" pitchFamily="34" charset="-120"/>
              </a:rPr>
              <a:t>riviti</a:t>
            </a:r>
            <a:endParaRPr lang="en-US" sz="1400" dirty="0"/>
          </a:p>
        </p:txBody>
      </p:sp>
      <p:sp>
        <p:nvSpPr>
          <p:cNvPr id="3" name="Text 1"/>
          <p:cNvSpPr/>
          <p:nvPr/>
        </p:nvSpPr>
        <p:spPr>
          <a:xfrm>
            <a:off x="640080" y="777240"/>
            <a:ext cx="9144000" cy="548640"/>
          </a:xfrm>
          <a:prstGeom prst="rect">
            <a:avLst/>
          </a:prstGeom>
          <a:noFill/>
          <a:ln/>
        </p:spPr>
        <p:txBody>
          <a:bodyPr wrap="square" rtlCol="0" anchor="ctr"/>
          <a:lstStyle/>
          <a:p>
            <a:pPr indent="0" marL="0">
              <a:buNone/>
            </a:pPr>
            <a:r>
              <a:rPr lang="en-US" sz="2000" b="1" dirty="0">
                <a:solidFill>
                  <a:srgbClr val="2E2E2E"/>
                </a:solidFill>
                <a:latin typeface="Space Grotesk" pitchFamily="34" charset="0"/>
                <a:ea typeface="Space Grotesk" pitchFamily="34" charset="-122"/>
                <a:cs typeface="Space Grotesk" pitchFamily="34" charset="-120"/>
              </a:rPr>
              <a:t>Column Comparison — copy this chart into your deck</a:t>
            </a:r>
            <a:endParaRPr lang="en-US" sz="2000" dirty="0"/>
          </a:p>
        </p:txBody>
      </p:sp>
      <p:graphicFrame>
        <p:nvGraphicFramePr>
          <p:cNvPr id="4" name="Chart 0" descr=""/>
          <p:cNvGraphicFramePr/>
          <p:nvPr/>
        </p:nvGraphicFramePr>
        <p:xfrm>
          <a:off x="640080" y="1554480"/>
          <a:ext cx="77724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595360" y="1737360"/>
            <a:ext cx="3017520" cy="4114800"/>
          </a:xfrm>
          <a:prstGeom prst="rect">
            <a:avLst/>
          </a:prstGeom>
          <a:noFill/>
          <a:ln/>
        </p:spPr>
        <p:txBody>
          <a:bodyPr wrap="square" rtlCol="0" anchor="t"/>
          <a:lstStyle/>
          <a:p>
            <a:pPr indent="0" marL="0">
              <a:buNone/>
            </a:pPr>
            <a:r>
              <a:rPr lang="en-US" sz="1000" dirty="0">
                <a:solidFill>
                  <a:srgbClr val="6B6B76"/>
                </a:solidFill>
                <a:latin typeface="Plus Jakarta Sans" pitchFamily="34" charset="0"/>
                <a:ea typeface="Plus Jakarta Sans" pitchFamily="34" charset="-122"/>
                <a:cs typeface="Plus Jakarta Sans" pitchFamily="34" charset="-120"/>
              </a:rPr>
              <a:t>Style rule: 2-series max per chart. Muted mist for baseline/before, orange for the highlighted/after series. Never more than one orange series per chart — it's the emphasis color, not a palette color.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828800" cy="320040"/>
          </a:xfrm>
          <a:prstGeom prst="rect">
            <a:avLst/>
          </a:prstGeom>
          <a:noFill/>
          <a:ln/>
        </p:spPr>
        <p:txBody>
          <a:bodyPr wrap="square" rtlCol="0" anchor="ctr"/>
          <a:lstStyle/>
          <a:p>
            <a:pPr indent="0" marL="0">
              <a:buNone/>
            </a:pPr>
            <a:r>
              <a:rPr lang="en-US" sz="1400" b="1" dirty="0">
                <a:solidFill>
                  <a:srgbClr val="FF4D1C"/>
                </a:solidFill>
                <a:latin typeface="Space Grotesk" pitchFamily="34" charset="0"/>
                <a:ea typeface="Space Grotesk" pitchFamily="34" charset="-122"/>
                <a:cs typeface="Space Grotesk" pitchFamily="34" charset="-120"/>
              </a:rPr>
              <a:t>a</a:t>
            </a:r>
            <a:pPr indent="0" marL="0">
              <a:buNone/>
            </a:pPr>
            <a:r>
              <a:rPr lang="en-US" sz="1400" b="1" dirty="0">
                <a:solidFill>
                  <a:srgbClr val="3B3EA9"/>
                </a:solidFill>
                <a:latin typeface="Space Grotesk" pitchFamily="34" charset="0"/>
                <a:ea typeface="Space Grotesk" pitchFamily="34" charset="-122"/>
                <a:cs typeface="Space Grotesk" pitchFamily="34" charset="-120"/>
              </a:rPr>
              <a:t>riviti</a:t>
            </a:r>
            <a:endParaRPr lang="en-US" sz="1400" dirty="0"/>
          </a:p>
        </p:txBody>
      </p:sp>
      <p:sp>
        <p:nvSpPr>
          <p:cNvPr id="3" name="Text 1"/>
          <p:cNvSpPr/>
          <p:nvPr/>
        </p:nvSpPr>
        <p:spPr>
          <a:xfrm>
            <a:off x="640080" y="777240"/>
            <a:ext cx="9144000" cy="548640"/>
          </a:xfrm>
          <a:prstGeom prst="rect">
            <a:avLst/>
          </a:prstGeom>
          <a:noFill/>
          <a:ln/>
        </p:spPr>
        <p:txBody>
          <a:bodyPr wrap="square" rtlCol="0" anchor="ctr"/>
          <a:lstStyle/>
          <a:p>
            <a:pPr indent="0" marL="0">
              <a:buNone/>
            </a:pPr>
            <a:r>
              <a:rPr lang="en-US" sz="2000" b="1" dirty="0">
                <a:solidFill>
                  <a:srgbClr val="2E2E2E"/>
                </a:solidFill>
                <a:latin typeface="Space Grotesk" pitchFamily="34" charset="0"/>
                <a:ea typeface="Space Grotesk" pitchFamily="34" charset="-122"/>
                <a:cs typeface="Space Grotesk" pitchFamily="34" charset="-120"/>
              </a:rPr>
              <a:t>Line Trend — copy this chart into your deck</a:t>
            </a:r>
            <a:endParaRPr lang="en-US" sz="2000" dirty="0"/>
          </a:p>
        </p:txBody>
      </p:sp>
      <p:graphicFrame>
        <p:nvGraphicFramePr>
          <p:cNvPr id="4" name="Chart 0" descr=""/>
          <p:cNvGraphicFramePr/>
          <p:nvPr/>
        </p:nvGraphicFramePr>
        <p:xfrm>
          <a:off x="640080" y="1554480"/>
          <a:ext cx="77724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595360" y="1737360"/>
            <a:ext cx="3017520" cy="4114800"/>
          </a:xfrm>
          <a:prstGeom prst="rect">
            <a:avLst/>
          </a:prstGeom>
          <a:noFill/>
          <a:ln/>
        </p:spPr>
        <p:txBody>
          <a:bodyPr wrap="square" rtlCol="0" anchor="t"/>
          <a:lstStyle/>
          <a:p>
            <a:pPr indent="0" marL="0">
              <a:buNone/>
            </a:pPr>
            <a:r>
              <a:rPr lang="en-US" sz="1000" dirty="0">
                <a:solidFill>
                  <a:srgbClr val="6B6B76"/>
                </a:solidFill>
                <a:latin typeface="Plus Jakarta Sans" pitchFamily="34" charset="0"/>
                <a:ea typeface="Plus Jakarta Sans" pitchFamily="34" charset="-122"/>
                <a:cs typeface="Plus Jakarta Sans" pitchFamily="34" charset="-120"/>
              </a:rPr>
              <a:t>Style rule: single indigo line for a trend, 3pt weight, circle markers. Add a second series only in orange, and only when directly comparing to the first — never a third color.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828800" cy="320040"/>
          </a:xfrm>
          <a:prstGeom prst="rect">
            <a:avLst/>
          </a:prstGeom>
          <a:noFill/>
          <a:ln/>
        </p:spPr>
        <p:txBody>
          <a:bodyPr wrap="square" rtlCol="0" anchor="ctr"/>
          <a:lstStyle/>
          <a:p>
            <a:pPr indent="0" marL="0">
              <a:buNone/>
            </a:pPr>
            <a:r>
              <a:rPr lang="en-US" sz="1400" b="1" dirty="0">
                <a:solidFill>
                  <a:srgbClr val="FF4D1C"/>
                </a:solidFill>
                <a:latin typeface="Space Grotesk" pitchFamily="34" charset="0"/>
                <a:ea typeface="Space Grotesk" pitchFamily="34" charset="-122"/>
                <a:cs typeface="Space Grotesk" pitchFamily="34" charset="-120"/>
              </a:rPr>
              <a:t>a</a:t>
            </a:r>
            <a:pPr indent="0" marL="0">
              <a:buNone/>
            </a:pPr>
            <a:r>
              <a:rPr lang="en-US" sz="1400" b="1" dirty="0">
                <a:solidFill>
                  <a:srgbClr val="3B3EA9"/>
                </a:solidFill>
                <a:latin typeface="Space Grotesk" pitchFamily="34" charset="0"/>
                <a:ea typeface="Space Grotesk" pitchFamily="34" charset="-122"/>
                <a:cs typeface="Space Grotesk" pitchFamily="34" charset="-120"/>
              </a:rPr>
              <a:t>riviti</a:t>
            </a:r>
            <a:endParaRPr lang="en-US" sz="1400" dirty="0"/>
          </a:p>
        </p:txBody>
      </p:sp>
      <p:sp>
        <p:nvSpPr>
          <p:cNvPr id="3" name="Text 1"/>
          <p:cNvSpPr/>
          <p:nvPr/>
        </p:nvSpPr>
        <p:spPr>
          <a:xfrm>
            <a:off x="640080" y="777240"/>
            <a:ext cx="9144000" cy="548640"/>
          </a:xfrm>
          <a:prstGeom prst="rect">
            <a:avLst/>
          </a:prstGeom>
          <a:noFill/>
          <a:ln/>
        </p:spPr>
        <p:txBody>
          <a:bodyPr wrap="square" rtlCol="0" anchor="ctr"/>
          <a:lstStyle/>
          <a:p>
            <a:pPr indent="0" marL="0">
              <a:buNone/>
            </a:pPr>
            <a:r>
              <a:rPr lang="en-US" sz="2000" b="1" dirty="0">
                <a:solidFill>
                  <a:srgbClr val="2E2E2E"/>
                </a:solidFill>
                <a:latin typeface="Space Grotesk" pitchFamily="34" charset="0"/>
                <a:ea typeface="Space Grotesk" pitchFamily="34" charset="-122"/>
                <a:cs typeface="Space Grotesk" pitchFamily="34" charset="-120"/>
              </a:rPr>
              <a:t>Donut Composition — copy this chart into your deck</a:t>
            </a:r>
            <a:endParaRPr lang="en-US" sz="2000" dirty="0"/>
          </a:p>
        </p:txBody>
      </p:sp>
      <p:graphicFrame>
        <p:nvGraphicFramePr>
          <p:cNvPr id="4" name="Chart 0" descr=""/>
          <p:cNvGraphicFramePr/>
          <p:nvPr/>
        </p:nvGraphicFramePr>
        <p:xfrm>
          <a:off x="1188720" y="1554480"/>
          <a:ext cx="5943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98080" y="1737360"/>
            <a:ext cx="3931920" cy="4114800"/>
          </a:xfrm>
          <a:prstGeom prst="rect">
            <a:avLst/>
          </a:prstGeom>
          <a:noFill/>
          <a:ln/>
        </p:spPr>
        <p:txBody>
          <a:bodyPr wrap="square" rtlCol="0" anchor="t"/>
          <a:lstStyle/>
          <a:p>
            <a:pPr indent="0" marL="0">
              <a:buNone/>
            </a:pPr>
            <a:r>
              <a:rPr lang="en-US" sz="1000" dirty="0">
                <a:solidFill>
                  <a:srgbClr val="6B6B76"/>
                </a:solidFill>
                <a:latin typeface="Plus Jakarta Sans" pitchFamily="34" charset="0"/>
                <a:ea typeface="Plus Jakarta Sans" pitchFamily="34" charset="-122"/>
                <a:cs typeface="Plus Jakarta Sans" pitchFamily="34" charset="-120"/>
              </a:rPr>
              <a:t>Style rule: 3 segments max. Orange = the headline share, indigo = secondary, mist = remainder. More than 3 segments — use a table instead, a donut chart stops being readable.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828800" cy="320040"/>
          </a:xfrm>
          <a:prstGeom prst="rect">
            <a:avLst/>
          </a:prstGeom>
          <a:noFill/>
          <a:ln/>
        </p:spPr>
        <p:txBody>
          <a:bodyPr wrap="square" rtlCol="0" anchor="ctr"/>
          <a:lstStyle/>
          <a:p>
            <a:pPr indent="0" marL="0">
              <a:buNone/>
            </a:pPr>
            <a:r>
              <a:rPr lang="en-US" sz="1400" b="1" dirty="0">
                <a:solidFill>
                  <a:srgbClr val="FF4D1C"/>
                </a:solidFill>
                <a:latin typeface="Space Grotesk" pitchFamily="34" charset="0"/>
                <a:ea typeface="Space Grotesk" pitchFamily="34" charset="-122"/>
                <a:cs typeface="Space Grotesk" pitchFamily="34" charset="-120"/>
              </a:rPr>
              <a:t>a</a:t>
            </a:r>
            <a:pPr indent="0" marL="0">
              <a:buNone/>
            </a:pPr>
            <a:r>
              <a:rPr lang="en-US" sz="1400" b="1" dirty="0">
                <a:solidFill>
                  <a:srgbClr val="3B3EA9"/>
                </a:solidFill>
                <a:latin typeface="Space Grotesk" pitchFamily="34" charset="0"/>
                <a:ea typeface="Space Grotesk" pitchFamily="34" charset="-122"/>
                <a:cs typeface="Space Grotesk" pitchFamily="34" charset="-120"/>
              </a:rPr>
              <a:t>riviti</a:t>
            </a:r>
            <a:endParaRPr lang="en-US" sz="1400" dirty="0"/>
          </a:p>
        </p:txBody>
      </p:sp>
      <p:sp>
        <p:nvSpPr>
          <p:cNvPr id="3" name="Text 1"/>
          <p:cNvSpPr/>
          <p:nvPr/>
        </p:nvSpPr>
        <p:spPr>
          <a:xfrm>
            <a:off x="640080" y="777240"/>
            <a:ext cx="9144000" cy="548640"/>
          </a:xfrm>
          <a:prstGeom prst="rect">
            <a:avLst/>
          </a:prstGeom>
          <a:noFill/>
          <a:ln/>
        </p:spPr>
        <p:txBody>
          <a:bodyPr wrap="square" rtlCol="0" anchor="ctr"/>
          <a:lstStyle/>
          <a:p>
            <a:pPr indent="0" marL="0">
              <a:buNone/>
            </a:pPr>
            <a:r>
              <a:rPr lang="en-US" sz="2000" b="1" dirty="0">
                <a:solidFill>
                  <a:srgbClr val="2E2E2E"/>
                </a:solidFill>
                <a:latin typeface="Space Grotesk" pitchFamily="34" charset="0"/>
                <a:ea typeface="Space Grotesk" pitchFamily="34" charset="-122"/>
                <a:cs typeface="Space Grotesk" pitchFamily="34" charset="-120"/>
              </a:rPr>
              <a:t>Waterfall / Bridge — copy this chart into your deck</a:t>
            </a:r>
            <a:endParaRPr lang="en-US" sz="2000" dirty="0"/>
          </a:p>
        </p:txBody>
      </p:sp>
      <p:graphicFrame>
        <p:nvGraphicFramePr>
          <p:cNvPr id="4" name="Chart 0" descr=""/>
          <p:cNvGraphicFramePr/>
          <p:nvPr/>
        </p:nvGraphicFramePr>
        <p:xfrm>
          <a:off x="640080" y="1554480"/>
          <a:ext cx="77724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595360" y="1737360"/>
            <a:ext cx="3017520" cy="4114800"/>
          </a:xfrm>
          <a:prstGeom prst="rect">
            <a:avLst/>
          </a:prstGeom>
          <a:noFill/>
          <a:ln/>
        </p:spPr>
        <p:txBody>
          <a:bodyPr wrap="square" rtlCol="0" anchor="t"/>
          <a:lstStyle/>
          <a:p>
            <a:pPr indent="0" marL="0">
              <a:buNone/>
            </a:pPr>
            <a:r>
              <a:rPr lang="en-US" sz="1000" dirty="0">
                <a:solidFill>
                  <a:srgbClr val="6B6B76"/>
                </a:solidFill>
                <a:latin typeface="Plus Jakarta Sans" pitchFamily="34" charset="0"/>
                <a:ea typeface="Plus Jakarta Sans" pitchFamily="34" charset="-122"/>
                <a:cs typeface="Plus Jakarta Sans" pitchFamily="34" charset="-120"/>
              </a:rPr>
              <a:t>Style rule: base series set to transparent, value series in indigo. Manually recolor the 'Start' and 'End' bars to Soft Black after pasting (select just that data point), and delete the base series' own data labels (select them, Delete) to distinguish anchors from deltas.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2026-08-19T07:43:41Z</dcterms:created>
  <dcterms:modified xsi:type="dcterms:W3CDTF">2026-08-19T07:43:41Z</dcterms:modified>
</cp:coreProperties>
</file>