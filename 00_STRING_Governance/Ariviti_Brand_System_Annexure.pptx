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36" r:id="rId12"/>
    <p:sldId id="33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12192000" cy="7620000"/>
  <p:notesSz cx="7620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yzed.com" userId="aaed2106-48f5-4a15-b1fa-35c21b04e48b" providerId="ADAL" clId="{4614826B-B488-4E05-8780-12923E585C6C}"/>
    <pc:docChg chg="undo custSel addSld delSld modSld sldOrd">
      <pc:chgData name="anilyzed.com" userId="aaed2106-48f5-4a15-b1fa-35c21b04e48b" providerId="ADAL" clId="{4614826B-B488-4E05-8780-12923E585C6C}" dt="2026-08-13T11:34:12.977" v="77" actId="20577"/>
      <pc:docMkLst>
        <pc:docMk/>
      </pc:docMkLst>
      <pc:sldChg chg="modSp mod">
        <pc:chgData name="anilyzed.com" userId="aaed2106-48f5-4a15-b1fa-35c21b04e48b" providerId="ADAL" clId="{4614826B-B488-4E05-8780-12923E585C6C}" dt="2026-08-13T11:23:41.297" v="1" actId="14100"/>
        <pc:sldMkLst>
          <pc:docMk/>
          <pc:sldMk cId="0" sldId="256"/>
        </pc:sldMkLst>
        <pc:picChg chg="mod">
          <ac:chgData name="anilyzed.com" userId="aaed2106-48f5-4a15-b1fa-35c21b04e48b" providerId="ADAL" clId="{4614826B-B488-4E05-8780-12923E585C6C}" dt="2026-08-13T11:23:41.297" v="1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delSp modSp mod">
        <pc:chgData name="anilyzed.com" userId="aaed2106-48f5-4a15-b1fa-35c21b04e48b" providerId="ADAL" clId="{4614826B-B488-4E05-8780-12923E585C6C}" dt="2026-08-13T11:24:21.198" v="5" actId="478"/>
        <pc:sldMkLst>
          <pc:docMk/>
          <pc:sldMk cId="0" sldId="260"/>
        </pc:sldMkLst>
        <pc:spChg chg="del">
          <ac:chgData name="anilyzed.com" userId="aaed2106-48f5-4a15-b1fa-35c21b04e48b" providerId="ADAL" clId="{4614826B-B488-4E05-8780-12923E585C6C}" dt="2026-08-13T11:24:21.198" v="5" actId="478"/>
          <ac:spMkLst>
            <pc:docMk/>
            <pc:sldMk cId="0" sldId="260"/>
            <ac:spMk id="4" creationId="{00000000-0000-0000-0000-000000000000}"/>
          </ac:spMkLst>
        </pc:spChg>
        <pc:picChg chg="mod">
          <ac:chgData name="anilyzed.com" userId="aaed2106-48f5-4a15-b1fa-35c21b04e48b" providerId="ADAL" clId="{4614826B-B488-4E05-8780-12923E585C6C}" dt="2026-08-13T11:24:02.100" v="2" actId="14100"/>
          <ac:picMkLst>
            <pc:docMk/>
            <pc:sldMk cId="0" sldId="260"/>
            <ac:picMk id="6" creationId="{00000000-0000-0000-0000-000000000000}"/>
          </ac:picMkLst>
        </pc:picChg>
        <pc:picChg chg="mod">
          <ac:chgData name="anilyzed.com" userId="aaed2106-48f5-4a15-b1fa-35c21b04e48b" providerId="ADAL" clId="{4614826B-B488-4E05-8780-12923E585C6C}" dt="2026-08-13T11:24:07.093" v="3" actId="14100"/>
          <ac:picMkLst>
            <pc:docMk/>
            <pc:sldMk cId="0" sldId="260"/>
            <ac:picMk id="9" creationId="{00000000-0000-0000-0000-000000000000}"/>
          </ac:picMkLst>
        </pc:picChg>
        <pc:picChg chg="mod">
          <ac:chgData name="anilyzed.com" userId="aaed2106-48f5-4a15-b1fa-35c21b04e48b" providerId="ADAL" clId="{4614826B-B488-4E05-8780-12923E585C6C}" dt="2026-08-13T11:24:12.132" v="4" actId="14100"/>
          <ac:picMkLst>
            <pc:docMk/>
            <pc:sldMk cId="0" sldId="260"/>
            <ac:picMk id="12" creationId="{00000000-0000-0000-0000-000000000000}"/>
          </ac:picMkLst>
        </pc:picChg>
      </pc:sldChg>
      <pc:sldChg chg="del">
        <pc:chgData name="anilyzed.com" userId="aaed2106-48f5-4a15-b1fa-35c21b04e48b" providerId="ADAL" clId="{4614826B-B488-4E05-8780-12923E585C6C}" dt="2026-08-13T11:26:20.512" v="6" actId="47"/>
        <pc:sldMkLst>
          <pc:docMk/>
          <pc:sldMk cId="0" sldId="266"/>
        </pc:sldMkLst>
      </pc:sldChg>
      <pc:sldChg chg="delSp del mod">
        <pc:chgData name="anilyzed.com" userId="aaed2106-48f5-4a15-b1fa-35c21b04e48b" providerId="ADAL" clId="{4614826B-B488-4E05-8780-12923E585C6C}" dt="2026-08-13T11:33:53.422" v="70" actId="47"/>
        <pc:sldMkLst>
          <pc:docMk/>
          <pc:sldMk cId="0" sldId="267"/>
        </pc:sldMkLst>
        <pc:spChg chg="del">
          <ac:chgData name="anilyzed.com" userId="aaed2106-48f5-4a15-b1fa-35c21b04e48b" providerId="ADAL" clId="{4614826B-B488-4E05-8780-12923E585C6C}" dt="2026-08-13T11:33:49.562" v="69" actId="478"/>
          <ac:spMkLst>
            <pc:docMk/>
            <pc:sldMk cId="0" sldId="267"/>
            <ac:spMk id="2" creationId="{00000000-0000-0000-0000-000000000000}"/>
          </ac:spMkLst>
        </pc:spChg>
        <pc:spChg chg="del">
          <ac:chgData name="anilyzed.com" userId="aaed2106-48f5-4a15-b1fa-35c21b04e48b" providerId="ADAL" clId="{4614826B-B488-4E05-8780-12923E585C6C}" dt="2026-08-13T11:33:49.562" v="69" actId="478"/>
          <ac:spMkLst>
            <pc:docMk/>
            <pc:sldMk cId="0" sldId="267"/>
            <ac:spMk id="3" creationId="{00000000-0000-0000-0000-000000000000}"/>
          </ac:spMkLst>
        </pc:spChg>
        <pc:spChg chg="del">
          <ac:chgData name="anilyzed.com" userId="aaed2106-48f5-4a15-b1fa-35c21b04e48b" providerId="ADAL" clId="{4614826B-B488-4E05-8780-12923E585C6C}" dt="2026-08-13T11:33:49.562" v="69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anilyzed.com" userId="aaed2106-48f5-4a15-b1fa-35c21b04e48b" providerId="ADAL" clId="{4614826B-B488-4E05-8780-12923E585C6C}" dt="2026-08-13T11:33:49.562" v="69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anilyzed.com" userId="aaed2106-48f5-4a15-b1fa-35c21b04e48b" providerId="ADAL" clId="{4614826B-B488-4E05-8780-12923E585C6C}" dt="2026-08-13T11:33:49.562" v="69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anilyzed.com" userId="aaed2106-48f5-4a15-b1fa-35c21b04e48b" providerId="ADAL" clId="{4614826B-B488-4E05-8780-12923E585C6C}" dt="2026-08-13T11:33:49.562" v="69" actId="478"/>
          <ac:spMkLst>
            <pc:docMk/>
            <pc:sldMk cId="0" sldId="267"/>
            <ac:spMk id="8" creationId="{00000000-0000-0000-0000-000000000000}"/>
          </ac:spMkLst>
        </pc:spChg>
        <pc:picChg chg="del">
          <ac:chgData name="anilyzed.com" userId="aaed2106-48f5-4a15-b1fa-35c21b04e48b" providerId="ADAL" clId="{4614826B-B488-4E05-8780-12923E585C6C}" dt="2026-08-13T11:33:49.562" v="69" actId="478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anilyzed.com" userId="aaed2106-48f5-4a15-b1fa-35c21b04e48b" providerId="ADAL" clId="{4614826B-B488-4E05-8780-12923E585C6C}" dt="2026-08-13T11:29:41.412" v="12" actId="20577"/>
        <pc:sldMkLst>
          <pc:docMk/>
          <pc:sldMk cId="0" sldId="291"/>
        </pc:sldMkLst>
        <pc:spChg chg="mod">
          <ac:chgData name="anilyzed.com" userId="aaed2106-48f5-4a15-b1fa-35c21b04e48b" providerId="ADAL" clId="{4614826B-B488-4E05-8780-12923E585C6C}" dt="2026-08-13T11:29:41.412" v="12" actId="20577"/>
          <ac:spMkLst>
            <pc:docMk/>
            <pc:sldMk cId="0" sldId="291"/>
            <ac:spMk id="4" creationId="{00000000-0000-0000-0000-000000000000}"/>
          </ac:spMkLst>
        </pc:spChg>
      </pc:sldChg>
      <pc:sldChg chg="modSp mod">
        <pc:chgData name="anilyzed.com" userId="aaed2106-48f5-4a15-b1fa-35c21b04e48b" providerId="ADAL" clId="{4614826B-B488-4E05-8780-12923E585C6C}" dt="2026-08-13T11:31:05.662" v="16" actId="1076"/>
        <pc:sldMkLst>
          <pc:docMk/>
          <pc:sldMk cId="0" sldId="305"/>
        </pc:sldMkLst>
        <pc:spChg chg="mod">
          <ac:chgData name="anilyzed.com" userId="aaed2106-48f5-4a15-b1fa-35c21b04e48b" providerId="ADAL" clId="{4614826B-B488-4E05-8780-12923E585C6C}" dt="2026-08-13T11:31:05.662" v="16" actId="1076"/>
          <ac:spMkLst>
            <pc:docMk/>
            <pc:sldMk cId="0" sldId="305"/>
            <ac:spMk id="5" creationId="{00000000-0000-0000-0000-000000000000}"/>
          </ac:spMkLst>
        </pc:spChg>
      </pc:sldChg>
      <pc:sldChg chg="modSp mod">
        <pc:chgData name="anilyzed.com" userId="aaed2106-48f5-4a15-b1fa-35c21b04e48b" providerId="ADAL" clId="{4614826B-B488-4E05-8780-12923E585C6C}" dt="2026-08-13T11:31:53.963" v="62" actId="2711"/>
        <pc:sldMkLst>
          <pc:docMk/>
          <pc:sldMk cId="0" sldId="314"/>
        </pc:sldMkLst>
        <pc:spChg chg="mod">
          <ac:chgData name="anilyzed.com" userId="aaed2106-48f5-4a15-b1fa-35c21b04e48b" providerId="ADAL" clId="{4614826B-B488-4E05-8780-12923E585C6C}" dt="2026-08-13T11:31:53.963" v="62" actId="2711"/>
          <ac:spMkLst>
            <pc:docMk/>
            <pc:sldMk cId="0" sldId="314"/>
            <ac:spMk id="7" creationId="{00000000-0000-0000-0000-000000000000}"/>
          </ac:spMkLst>
        </pc:spChg>
        <pc:spChg chg="mod">
          <ac:chgData name="anilyzed.com" userId="aaed2106-48f5-4a15-b1fa-35c21b04e48b" providerId="ADAL" clId="{4614826B-B488-4E05-8780-12923E585C6C}" dt="2026-08-13T11:31:41.505" v="61" actId="20577"/>
          <ac:spMkLst>
            <pc:docMk/>
            <pc:sldMk cId="0" sldId="314"/>
            <ac:spMk id="8" creationId="{00000000-0000-0000-0000-000000000000}"/>
          </ac:spMkLst>
        </pc:spChg>
      </pc:sldChg>
      <pc:sldChg chg="modSp mod">
        <pc:chgData name="anilyzed.com" userId="aaed2106-48f5-4a15-b1fa-35c21b04e48b" providerId="ADAL" clId="{4614826B-B488-4E05-8780-12923E585C6C}" dt="2026-08-13T11:32:48.892" v="67" actId="20577"/>
        <pc:sldMkLst>
          <pc:docMk/>
          <pc:sldMk cId="0" sldId="333"/>
        </pc:sldMkLst>
        <pc:spChg chg="mod">
          <ac:chgData name="anilyzed.com" userId="aaed2106-48f5-4a15-b1fa-35c21b04e48b" providerId="ADAL" clId="{4614826B-B488-4E05-8780-12923E585C6C}" dt="2026-08-13T11:32:48.892" v="67" actId="20577"/>
          <ac:spMkLst>
            <pc:docMk/>
            <pc:sldMk cId="0" sldId="333"/>
            <ac:spMk id="3" creationId="{00000000-0000-0000-0000-000000000000}"/>
          </ac:spMkLst>
        </pc:spChg>
      </pc:sldChg>
      <pc:sldChg chg="add">
        <pc:chgData name="anilyzed.com" userId="aaed2106-48f5-4a15-b1fa-35c21b04e48b" providerId="ADAL" clId="{4614826B-B488-4E05-8780-12923E585C6C}" dt="2026-08-13T11:33:35.754" v="68" actId="2890"/>
        <pc:sldMkLst>
          <pc:docMk/>
          <pc:sldMk cId="3981624024" sldId="335"/>
        </pc:sldMkLst>
      </pc:sldChg>
      <pc:sldChg chg="addSp delSp modSp add mod ord">
        <pc:chgData name="anilyzed.com" userId="aaed2106-48f5-4a15-b1fa-35c21b04e48b" providerId="ADAL" clId="{4614826B-B488-4E05-8780-12923E585C6C}" dt="2026-08-13T11:34:12.977" v="77" actId="20577"/>
        <pc:sldMkLst>
          <pc:docMk/>
          <pc:sldMk cId="606928014" sldId="336"/>
        </pc:sldMkLst>
        <pc:spChg chg="del">
          <ac:chgData name="anilyzed.com" userId="aaed2106-48f5-4a15-b1fa-35c21b04e48b" providerId="ADAL" clId="{4614826B-B488-4E05-8780-12923E585C6C}" dt="2026-08-13T11:33:57.480" v="72" actId="478"/>
          <ac:spMkLst>
            <pc:docMk/>
            <pc:sldMk cId="606928014" sldId="336"/>
            <ac:spMk id="2" creationId="{56E623E6-65D9-E14A-0997-67D12AD53D02}"/>
          </ac:spMkLst>
        </pc:spChg>
        <pc:spChg chg="del">
          <ac:chgData name="anilyzed.com" userId="aaed2106-48f5-4a15-b1fa-35c21b04e48b" providerId="ADAL" clId="{4614826B-B488-4E05-8780-12923E585C6C}" dt="2026-08-13T11:33:57.480" v="72" actId="478"/>
          <ac:spMkLst>
            <pc:docMk/>
            <pc:sldMk cId="606928014" sldId="336"/>
            <ac:spMk id="3" creationId="{D6CE4724-7A6E-E002-27EA-78DD682163A1}"/>
          </ac:spMkLst>
        </pc:spChg>
        <pc:spChg chg="del">
          <ac:chgData name="anilyzed.com" userId="aaed2106-48f5-4a15-b1fa-35c21b04e48b" providerId="ADAL" clId="{4614826B-B488-4E05-8780-12923E585C6C}" dt="2026-08-13T11:33:57.480" v="72" actId="478"/>
          <ac:spMkLst>
            <pc:docMk/>
            <pc:sldMk cId="606928014" sldId="336"/>
            <ac:spMk id="4" creationId="{66BE3198-1357-81EF-3A44-F555F39E7E61}"/>
          </ac:spMkLst>
        </pc:spChg>
        <pc:spChg chg="del">
          <ac:chgData name="anilyzed.com" userId="aaed2106-48f5-4a15-b1fa-35c21b04e48b" providerId="ADAL" clId="{4614826B-B488-4E05-8780-12923E585C6C}" dt="2026-08-13T11:33:57.480" v="72" actId="478"/>
          <ac:spMkLst>
            <pc:docMk/>
            <pc:sldMk cId="606928014" sldId="336"/>
            <ac:spMk id="6" creationId="{E2E8DB78-9777-28DD-D416-76DF4D9348BD}"/>
          </ac:spMkLst>
        </pc:spChg>
        <pc:spChg chg="del">
          <ac:chgData name="anilyzed.com" userId="aaed2106-48f5-4a15-b1fa-35c21b04e48b" providerId="ADAL" clId="{4614826B-B488-4E05-8780-12923E585C6C}" dt="2026-08-13T11:33:57.480" v="72" actId="478"/>
          <ac:spMkLst>
            <pc:docMk/>
            <pc:sldMk cId="606928014" sldId="336"/>
            <ac:spMk id="8" creationId="{F28873E1-B9EE-6A62-0CC3-E425B0460703}"/>
          </ac:spMkLst>
        </pc:spChg>
        <pc:spChg chg="del">
          <ac:chgData name="anilyzed.com" userId="aaed2106-48f5-4a15-b1fa-35c21b04e48b" providerId="ADAL" clId="{4614826B-B488-4E05-8780-12923E585C6C}" dt="2026-08-13T11:33:57.480" v="72" actId="478"/>
          <ac:spMkLst>
            <pc:docMk/>
            <pc:sldMk cId="606928014" sldId="336"/>
            <ac:spMk id="9" creationId="{10118ACE-9D3C-E758-A64D-972B33FB820D}"/>
          </ac:spMkLst>
        </pc:spChg>
        <pc:spChg chg="add">
          <ac:chgData name="anilyzed.com" userId="aaed2106-48f5-4a15-b1fa-35c21b04e48b" providerId="ADAL" clId="{4614826B-B488-4E05-8780-12923E585C6C}" dt="2026-08-13T11:34:09.626" v="75" actId="22"/>
          <ac:spMkLst>
            <pc:docMk/>
            <pc:sldMk cId="606928014" sldId="336"/>
            <ac:spMk id="10" creationId="{819AC03B-6BAE-3884-1BD8-CB582B1A7149}"/>
          </ac:spMkLst>
        </pc:spChg>
        <pc:spChg chg="add">
          <ac:chgData name="anilyzed.com" userId="aaed2106-48f5-4a15-b1fa-35c21b04e48b" providerId="ADAL" clId="{4614826B-B488-4E05-8780-12923E585C6C}" dt="2026-08-13T11:34:09.626" v="75" actId="22"/>
          <ac:spMkLst>
            <pc:docMk/>
            <pc:sldMk cId="606928014" sldId="336"/>
            <ac:spMk id="15" creationId="{2D570B1D-E167-B31F-F950-F9DD6167CE3A}"/>
          </ac:spMkLst>
        </pc:spChg>
        <pc:spChg chg="add mod">
          <ac:chgData name="anilyzed.com" userId="aaed2106-48f5-4a15-b1fa-35c21b04e48b" providerId="ADAL" clId="{4614826B-B488-4E05-8780-12923E585C6C}" dt="2026-08-13T11:34:12.977" v="77" actId="20577"/>
          <ac:spMkLst>
            <pc:docMk/>
            <pc:sldMk cId="606928014" sldId="336"/>
            <ac:spMk id="17" creationId="{E484EFA1-50B6-9E66-B21A-18838075A256}"/>
          </ac:spMkLst>
        </pc:spChg>
        <pc:graphicFrameChg chg="del">
          <ac:chgData name="anilyzed.com" userId="aaed2106-48f5-4a15-b1fa-35c21b04e48b" providerId="ADAL" clId="{4614826B-B488-4E05-8780-12923E585C6C}" dt="2026-08-13T11:33:57.480" v="72" actId="478"/>
          <ac:graphicFrameMkLst>
            <pc:docMk/>
            <pc:sldMk cId="606928014" sldId="336"/>
            <ac:graphicFrameMk id="11" creationId="{38789148-CA7E-5778-B6A0-52FDAE2B4468}"/>
          </ac:graphicFrameMkLst>
        </pc:graphicFrameChg>
        <pc:picChg chg="del">
          <ac:chgData name="anilyzed.com" userId="aaed2106-48f5-4a15-b1fa-35c21b04e48b" providerId="ADAL" clId="{4614826B-B488-4E05-8780-12923E585C6C}" dt="2026-08-13T11:33:57.480" v="72" actId="478"/>
          <ac:picMkLst>
            <pc:docMk/>
            <pc:sldMk cId="606928014" sldId="336"/>
            <ac:picMk id="7" creationId="{520FA7A7-93CA-CD2D-A6DA-40E51DDD7455}"/>
          </ac:picMkLst>
        </pc:picChg>
        <pc:picChg chg="add">
          <ac:chgData name="anilyzed.com" userId="aaed2106-48f5-4a15-b1fa-35c21b04e48b" providerId="ADAL" clId="{4614826B-B488-4E05-8780-12923E585C6C}" dt="2026-08-13T11:34:09.626" v="75" actId="22"/>
          <ac:picMkLst>
            <pc:docMk/>
            <pc:sldMk cId="606928014" sldId="336"/>
            <ac:picMk id="13" creationId="{A53230E8-5698-B3C3-ACC1-06351496A2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057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4F80A-055F-B786-99FE-021360C15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4EF75-1103-54E5-0001-15F59F965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21249-9EA8-1622-6CB2-7FD06B0BF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4CD6C-96C6-4EA1-5868-F9491648A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47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2BAF-3B50-7D36-D220-0251DCA8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B3DB5-A66F-96A5-CA5D-D4ED4A388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E0D16-CC96-8DCB-99C2-73F087750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471C2-9831-B36D-34E0-BBE3C737CA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71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ordma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7" y="1408176"/>
            <a:ext cx="4174531" cy="1014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BRAND SYSTEM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4290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Complete</a:t>
            </a:r>
            <a:endParaRPr lang="en-US" sz="5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 Guidelines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66928" y="5349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· Voice · Photography · Design Philosophy · Atomic Design · Typography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· Color · Email Signatures · Templates · Implementation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66928" y="6720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Intelligence Amplified.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67167" y="6720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Annexure Set ·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Navigation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818888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03–11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423160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2532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25328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Voice, Tone &amp; Vocabulary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18888" y="25328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12–19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990088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0998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69848" y="30998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18888" y="30998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20–25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557016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6667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69848" y="366674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Philosophy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18888" y="366674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26–32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123944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42336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9848" y="42336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Atomic Design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18888" y="42336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33–38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90872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48006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69848" y="48006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Typography System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818888" y="48006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39–44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257800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9659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93408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Standards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0442448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45–50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0488" y="2423160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90488" y="2532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93408" y="25328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Swatches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442448" y="25328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51–57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0488" y="2990088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0488" y="30998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93408" y="30998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Signatures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0442448" y="30998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58–62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0488" y="3557016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90488" y="36667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693408" y="366674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0442448" y="366674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63–70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90488" y="4123944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90488" y="42336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693408" y="42336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&amp; Governance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10442448" y="42336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0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71–78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0488" y="4690872"/>
            <a:ext cx="51206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Contents  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Logo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argument, not just the asset — meaning, construction, and the rules that protect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 · LOGO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Argument, Not Just the Asset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core guidelines tell you what the logo is. This tells you what it must do — and what breaks it.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173968" cy="3108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4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Layer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Fact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What It Buys You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Etymology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"Ariviti" derives from Tamil Arivu — wisdom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naming asset competitors cannot copy without copying your origin story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Form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‘a’ is a forward-moving pathway, not a static letterform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Motion is read pre-verbally — signals progress before the wordmark is read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Detail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Radiating lines inside the arc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Reads as convergence — human judgment directing AI, not AI operating alone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85232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E8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8096" y="5285232"/>
            <a:ext cx="106555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6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Rule of thumb: any use that loses the pathway (the open, moving arc) or the radiating base (the human-AI fusion detail) has lost the argument — even if it still technically resembles the logo.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 · LOGO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Real Assets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2221992"/>
            <a:ext cx="349087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19324" y="2606040"/>
            <a:ext cx="1454429" cy="1380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4306824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Symbol — standalone mark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50410" y="2221992"/>
            <a:ext cx="349087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assets/wordmark_fullcolor_fina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34458" y="3300984"/>
            <a:ext cx="2722778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7570" y="4306824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Wordmark — set in Chillax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133893" y="2221992"/>
            <a:ext cx="3490874" cy="2468880"/>
          </a:xfrm>
          <a:prstGeom prst="roundRect">
            <a:avLst>
              <a:gd name="adj" fmla="val 3333"/>
            </a:avLst>
          </a:prstGeom>
          <a:solidFill>
            <a:srgbClr val="FF4D1C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assets/logo_wordmark_on_oran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17941" y="2834640"/>
            <a:ext cx="2722778" cy="11521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1053" y="4306824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Reversed — on Vibrant Orange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 · LOGO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Anatomy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173968" cy="3474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4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Element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Function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Symbol (‘a’ mark)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Standalone recognition at small sizes — favicon, app icon, avatar, watermark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 redraw, recolor outside the approved set, or crop the radiating base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Wordmark (‘ariviti’, Chillax)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Full-name legibility at readable sizes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 set in any font but Chillax; never used solo at first brand touchpoint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Primary lockup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Symbol + wordmark + “Intelligence Amplified” — the complete signature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 split the tagline from the lockup as if it were body copy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4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 · LOGO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Construction Math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the core BG — treated here as hard constraints, not design suggestions.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39112"/>
            <a:ext cx="34421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unit = 1X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368296"/>
            <a:ext cx="34421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smallest circle, top-right of the symbol. All spacing, sizing, and alignment derive from this unit.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74794" y="2039112"/>
            <a:ext cx="34421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 space = 2X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74794" y="2368296"/>
            <a:ext cx="34421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Nothing — text, image, or frame edge — enters this zone, on any side, at any scale.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82661" y="2039112"/>
            <a:ext cx="34421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Minimum size = 24px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182661" y="2368296"/>
            <a:ext cx="34421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Below this, the radiating detail collapses into noise and the argument is lost.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 · LOGO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Color Variants — When to Use What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155680" cy="32918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Variant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Background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 For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Full color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White / light neutral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Default — web header, decks, documents, business cards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Reversed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Indigo, Soft Black, or high-contrast photography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Dark UI, section dividers, video lower-thirds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 color — Indigo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Watermarks, embossing, single-color print (letterhead, invoices)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 color —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Photography, colored backgrounds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Any surface where full color would fail contrast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 · LOGO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Don'ts — With the Reasoning Made Explicit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155680" cy="46085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Don't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Why It Matters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Distort proportions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pathway geometry is precisely built — stretching breaks the “wisdom-guided” reading into “generic arc”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Outline-only treatment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Reads as unfinished/draft — undermines Confidence as a brand pillar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Drop shadows, bevels, glows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Signals dated tech-brand aesthetics — the opposite of purposeful innovation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Alter letter spacing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Chillax kerning is tuned; auto-kerning in Canva/PowerPoint respaces it wrong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Apply gradients to the mark itself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Gradients are reserved for approved background environments — never painted on the logo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Place on low-contrast backgrounds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Fails brand recognition and accessibility at the same time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 · LOGO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Symbol-Only Usage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covered in the core BG — filling the gap. This will be your most-seen asset.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155680" cy="3886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Context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Spec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Favicon / app icon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Symbol only, on white or Indigo tile, minimum 3X internal padding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Social avatar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Symbol only, full color, centered — no wordmark (illegible at avatar size)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Document watermark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Symbol only, 8% opacity, Soft Black, bottom-right — never centered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Co-branded contexts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Primary lockup, left-aligned, separated by a vertical rule at minimum 2X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6A6CA-7C3F-4CB7-5018-6F8FB51B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>
            <a:extLst>
              <a:ext uri="{FF2B5EF4-FFF2-40B4-BE49-F238E27FC236}">
                <a16:creationId xmlns:a16="http://schemas.microsoft.com/office/drawing/2014/main" id="{819AC03B-6BAE-3884-1BD8-CB582B1A7149}"/>
              </a:ext>
            </a:extLst>
          </p:cNvPr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assets/logo_symbol_transparent.png">
            <a:extLst>
              <a:ext uri="{FF2B5EF4-FFF2-40B4-BE49-F238E27FC236}">
                <a16:creationId xmlns:a16="http://schemas.microsoft.com/office/drawing/2014/main" id="{A53230E8-5698-B3C3-ACC1-06351496A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2D570B1D-E167-B31F-F950-F9DD6167CE3A}"/>
              </a:ext>
            </a:extLst>
          </p:cNvPr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E484EFA1-50B6-9E66-B21A-18838075A256}"/>
              </a:ext>
            </a:extLst>
          </p:cNvPr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System   11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606928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8ACD6-1CCD-FA1A-1403-11AD1D43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49DEAF-51E3-5C93-2EA1-94861F87317F}"/>
              </a:ext>
            </a:extLst>
          </p:cNvPr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909F3A-8190-AB24-AF15-1162EB59F30E}"/>
              </a:ext>
            </a:extLst>
          </p:cNvPr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Voice, Tone &amp; Vocabulary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19FB84-438E-EC34-0D38-FAC5F222BAC3}"/>
              </a:ext>
            </a:extLst>
          </p:cNvPr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traits, made testable — and the words that separate evidence from hype.</a:t>
            </a:r>
            <a:endParaRPr lang="en-US" sz="14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6610AC-74B3-E7F6-ABC0-B7F492B2CCE2}"/>
              </a:ext>
            </a:extLst>
          </p:cNvPr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>
            <a:extLst>
              <a:ext uri="{FF2B5EF4-FFF2-40B4-BE49-F238E27FC236}">
                <a16:creationId xmlns:a16="http://schemas.microsoft.com/office/drawing/2014/main" id="{ABD45A48-6E34-3580-C8E3-36D27A247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F0FB5FA2-512D-23B6-6D2A-15810B99F92C}"/>
              </a:ext>
            </a:extLst>
          </p:cNvPr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24CE3CE-053D-F989-078B-583804C705E2}"/>
              </a:ext>
            </a:extLst>
          </p:cNvPr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Voice, Tone &amp; Vocabulary   12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981624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02 · VOICE, TONE &amp; VOCABULARY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Four Traits, Operationalized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Traits without tests are just adjectives. Here is the test for each.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265408" cy="3886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7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Trait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Fails If…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Passes If…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Clear &amp; Direct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sentence needs re-reading to find the verb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reader states the point back correctly on first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Knowledgeable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claim could be made by any AI vendor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claim requires domain-specific context to be true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Evidence-first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number appears without its source or baseline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Every metric answers “measured how, against what”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Human-led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AI is the subject of the sentence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person or outcome is the subject; AI is the tool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 &amp; Vocabulary  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02 · VOICE, TONE &amp; VOCABULARY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Proof Ladder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external claim climbs three rungs. Skipping a rung is how marketing copy becomes fiction.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66544"/>
            <a:ext cx="11057839" cy="1514856"/>
          </a:xfrm>
          <a:prstGeom prst="roundRect">
            <a:avLst>
              <a:gd name="adj" fmla="val 54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" y="267766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26776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· CLAIM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58568" y="2066544"/>
            <a:ext cx="9137599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assertion — e.g. “we cut processing time.”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35448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727704"/>
            <a:ext cx="11057839" cy="1514856"/>
          </a:xfrm>
          <a:prstGeom prst="roundRect">
            <a:avLst>
              <a:gd name="adj" fmla="val 54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6384" y="433882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43388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· EVIDENCE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58568" y="3727704"/>
            <a:ext cx="9137599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number, source, and baseline — e.g. “from 7 weeks to 3 weeks, Q2 production data.”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848" y="5205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388864"/>
            <a:ext cx="11057839" cy="1514856"/>
          </a:xfrm>
          <a:prstGeom prst="roundRect">
            <a:avLst>
              <a:gd name="adj" fmla="val 54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6384" y="599998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" y="59999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· OUTCOME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58568" y="5388864"/>
            <a:ext cx="9137599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it meant for the client — e.g. “the backlog cleared before renewal season.”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 &amp; Vocabulary  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02 · VOICE, TONE &amp; VOCABULARY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Vocabulary — Use This, Never This (1/2)</a:t>
            </a:r>
            <a:endParaRPr lang="en-US" sz="2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265408" cy="4343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 This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 This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Why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“We leverage AI to accelerate digital transformation”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“We put AI into production with measurable outcomes.”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“Leverage” is a verb with no object — says nothing about what changed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“Our platform delivers cutting-edge AI solutions”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“We solve real business problems, not showcase technology.”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“Cutting-edge” is a claim every competitor also makes — zero differentiation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“AI-powered” (unqualified)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 what the AI does and what it produced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Unqualified “AI-powered” is now a red flag to sophisticated buyers, not a credential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“Innovative” / “next-generation” / “revolutionary”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specific mechanism or result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These words have no verifiable content — they're vibes, not evidence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 &amp; Vocabulary  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02 · VOICE, TONE &amp; VOCABULARY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Vocabulary — Use This, Never This (2/2)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265408" cy="4343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 This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 This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Why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“End-to-end solution”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 the start point and end point explicitly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“End-to-end” sounds complete but tells the reader nothing they can check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“Human in the loop”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“Human-led” / name the person's actual role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“In the loop” frames the human as an interruption to the AI, not the decision-maker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“Transformation” (unqualified)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From [state] to [state], by [date/metric]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Matches Evidence-first — an unqualified “transformation” is unfalsifiable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“Full-stack AI”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specific layer or capability you own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Nobody owns the full stack; the claim signals inexperience to technical buyers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 &amp; Vocabulary  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02 · VOICE, TONE &amp; VOCABULARY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Never List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Checked before any external asset ships.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319963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011680"/>
            <a:ext cx="10765231" cy="70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publish a metric without a source and baseline.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027970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719687"/>
            <a:ext cx="10765231" cy="70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write a passive-voice sentence in external copy. (“Costs were reduced” → “We reduced costs.”)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735977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427694"/>
            <a:ext cx="10765231" cy="70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use “AI-powered,” “cutting-edge,” “next-gen,” “revolutionary,” or “innovative” without a concrete mechanism in the same sentence.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4439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9536" y="4135701"/>
            <a:ext cx="10765231" cy="70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open a case study, deck, or About page with company heritage/years-in-business.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51991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" y="4843707"/>
            <a:ext cx="10765231" cy="70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let a technical process diagram outrank the human outcome in visual size or position.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585999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9536" y="5551714"/>
            <a:ext cx="10765231" cy="70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use more than one exclamation point per asset, ever.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6568005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9536" y="6259721"/>
            <a:ext cx="10765231" cy="70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claim a result as achieved if it is a target or lab result — say “target” or “pilot” explicitly.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 &amp; Vocabulary  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PERSONALITY — ONE IDEA, NOT A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senior engineer who also happens to be a good explainer.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That's it. Test every sentence against it: would a senior engineer actually say this out loud to a CFO, without flinching at their own words? If not, cut it. Resist inventing an elaborate persona system — Ariviti's personality is simple enough to fit in one sentence.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 &amp; Vocabulary  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02 · VOICE, TONE &amp; VOCABULARY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Tone by Format</a:t>
            </a:r>
            <a:endParaRPr lang="en-US" sz="2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265408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Format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Register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Length Discipline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Website hero copy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Direct claim + immediate qualifier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One sentence, one idea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LinkedIn post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Evidence-first, short declaratives, pause after the number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Under 8 lines before “see more”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Case study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Challenge → Approach → Result, in that order, every time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hedging language (“may,” “could potentially”)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Sales email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One idea per email; subject states the outcome, not the topic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Under 120 words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Leadership bio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Named, specific, credentialed — not a group photo caption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2–3 sentences, one proof point per person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 &amp; Vocabulary  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Photography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the image could illustrate any AI company's homepage, it's the wrong image.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   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03 · PHOTOGRAPHY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Subject Priority</a:t>
            </a:r>
            <a:endParaRPr lang="en-US" sz="2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265408" cy="3657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4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Priority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Subject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Reasoning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1st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Real product UI / real dashboards / real terminal output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Evidence-first applies to imagery too — a real screen is proof, a mockup is a claim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2nd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Real people doing real work — hands on keyboard, whiteboard sessions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Human-led means humans are visibly working, not posing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3rd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Environment / workplace context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Used sparingly to establish setting — never the hero of a page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Stock “AI concept” imagery — robots, brains, glowing networks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Zero differentiation, signals “generic AI vendor”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   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03 · PHOTOGRAPHY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/ Don't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78728" y="1572768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77393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739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34760" y="1773936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4760" y="17739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DON'T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58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258568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Shoot or source images where a real screen is visible and legible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0266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302666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Show people mid-conversation or mid-task, not looking at camera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79476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natural, editorial lighting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306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430682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Crop tight on hands, screens, and faces in technical contexts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507492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Caption every image with real context (who, doing what, why it matters)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4760" y="2258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27368" y="2258568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Blur or fake the screen content — if it can't be shown real, don't show 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4760" y="30266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7368" y="302666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posed “team high-fiving at a whiteboard” stock imagery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476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7368" y="379476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heavy color-grade filters that fight the brand palette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4760" y="45628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27368" y="4562856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wide establishing shots as the primary hero image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4760" y="53309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27368" y="5330952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Leave images uncaptioned — accessibility and SEO both require alt text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   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03 · PHOTOGRAPHY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Color Treatment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 should sit inside the brand palette, not fight 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391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Accent overlays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368296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Royal Indigo at 10–20% opacity as a duotone/scrim, never Vibrant Orange — orange overlays shift skin tones unnaturally and read as a warning tint.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311810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Never filter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44728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Instagram-style filters, vignettes, or film-grain effects — these date the brand and contradict Confidence as a pillar.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4197096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White space discipline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452628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 needs breathing room in layout — never bleed a busy photo directly against dense text blocks.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   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 TEXT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[Subject] doing [action] — [context]. Ariviti brand photograph.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Example: “Engineering lead reviewing a live claims-processing dashboard with a client stakeholder — production review session. Ariviti brand photograph.” Write alt text at time of upload, not retroactively. Never use filenames or generic descriptors (“team photo,” “office shot”) — this fails both accessibility and image-search discoverability.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   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MOAT NOTE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1st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Party Photography Cannot Be Stock-Purchased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43891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 product screens and real working sessions cannot be bought by a competitor from a stock library. A photography library built from actual engagements — even imperfect, even low-budget — is a durable asset a larger, better-funded competitor with a slicker stock-photo budget cannot replicate without doing the actual work first.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Photography   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Philosophy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intellectual lineage behind every pixel — traced back to one governing idea.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Philosophy   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GOVERNING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“Ariviti is built on the belief that the future of AI is guided by human wisdom.”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design decision downstream of that sentence must pass one test: does this make the human judgment visible, or does it make the AI look autonomous? If a layout, animation, or copy block makes AI look like it's operating alone, it contradicts the brand's core conviction — regardless of how polished it looks.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Philosophy   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04 · DESIGN PHILOSOPHY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Pillars → Three Design Laws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core BG names clarity, confidence, and purposeful innovation. Each becomes an enforceable law.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265408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Pillar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Design Law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 Practice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Clarity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One idea per screen / one idea per slide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dashboard-style pages cramming five messages above the fold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Confidence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State the claim once, plainly, and stop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stacked qualifiers, no hedge words, no exclamation marks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Purposeful Innovation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Every “new” element must trace to a functional reason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flourish added because it looks modern — only because it does something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Philosophy   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04 · DESIGN PHILOSOPHY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Derivation Chain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Example: why is the CTA button Vibrant Orange, not Royal Indigo?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66544"/>
            <a:ext cx="11057839" cy="684276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" y="226237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226237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GOVERNING IDEA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58568" y="2066544"/>
            <a:ext cx="9137599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Human wisdom guides AI, not the reverse.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27142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897124"/>
            <a:ext cx="11057839" cy="684276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6384" y="309295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309295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PILLAR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58568" y="2897124"/>
            <a:ext cx="9137599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Purposeful Innovation — orange = “energy, creativity, forward momentum.”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848" y="35448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27704"/>
            <a:ext cx="11057839" cy="684276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6384" y="392353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" y="392353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TOKEN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58568" y="3727704"/>
            <a:ext cx="9137599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Vibrant Orange (#FF4D1C) reserved for action, never for information.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43754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558284"/>
            <a:ext cx="11057839" cy="684276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6384" y="475411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6384" y="475411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58568" y="4558284"/>
            <a:ext cx="9137599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Primary CTA button — orange fill, white text, Space Grotesk SemiBold.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9848" y="5205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388864"/>
            <a:ext cx="11057839" cy="684276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6384" y="558469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6384" y="558469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58568" y="5388864"/>
            <a:ext cx="9137599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Orange never carries body text (fails AA contrast) — confined to short, large, high-confidence CTAs.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9848" y="60365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6219444"/>
            <a:ext cx="11057839" cy="684276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6384" y="641527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6384" y="641527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58568" y="6219444"/>
            <a:ext cx="9137599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page has exactly one orange CTA — never two competing actions.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Philosophy   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04 · DESIGN PHILOSOPHY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Ariviti Is Not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design version of the Never List.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155680" cy="36576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This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Because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“cutting-edge AI lab” aesthetic (dark mode, neon gradients, glitch effects)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Signals hype, not evidence — contradicts Evidence-first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generic enterprise-SaaS template (rounded cards, pastel illustrations)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Indistinguishable from any B2B SaaS landing page — zero differentiation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consultancy-generic deck (stock handshake photos, bullet-wall slides)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Contradicts Clarity — bullet walls are the opposite of one idea per slide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Philosophy   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04 · DESIGN PHILOSOPHY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Real-World Tension to Design Around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Revenue is predominantly services; TurfAI is a strategic wedge, not the whole business.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585466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011680"/>
            <a:ext cx="10765231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site that looks 100% platform-forward will misrepresent the company to buyers doing due diligence — and sophisticated buyers notice the mismatch.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82447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3250692"/>
            <a:ext cx="10765231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Platform pages (TurfAI, CoE) get full design-system investment — they're the differentiation story.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5063490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4489704"/>
            <a:ext cx="10765231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Services pages get equal typographic and photographic rigor — never treated as the “boring” section with leftover templates.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6302502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9536" y="5728716"/>
            <a:ext cx="10765231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let site navigation imply platform-only revenue (e.g., five platform nav items and one buried “Services” link). Navigation architecture is a design-philosophy decision, not just an IA decision.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Philosophy   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ONE-SENTENCE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Would a technical evaluator trust this, and would a human buyer feel understood by this — at the same time?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an asset only satisfies one of the two, it's not finished.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Philosophy   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Atomic Design Methodology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missing layer between “guidelines” and “shipped pages.”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Atomic Design Methodology   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05 · ATOMIC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Hierarchy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Nobody designs at the Section or Template level from scratch — everyone assembles from governed pieces.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082528" cy="4160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1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Level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Contains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Ariviti Example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Tokens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Raw values — colors, type sizes, spacing units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#FF4D1C, Space Grotesk Bold 48px, 8px spacing unit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Components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single-function combination of tokens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Primary CTA: Orange fill + white Plus Jakarta Sans SemiBold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Patterns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Reusable multi-component blocks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Proof Block: claim + metric + source line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Sections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Complete functional page zones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Homepage hero, case study Results section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Templates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Full page types, pre-populated, ready to fill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Case study template, one-pager template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System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live, governed asset library in production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ariviti.com, sales kit, deck library, case study library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Atomic Design   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05 · ATOMIC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Proof Block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single highest-leverage pattern — reused across web, decks, case studies, and LinkedIn.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391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CLAIM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368296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line, Space Grotesk SemiBold — the assertion.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311810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44728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Large, bold — the number does the work.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4197096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452628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“Production data, Q[X] 20XX, [client industry]” — never freehanded by copywriters.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Atomic Design   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05 · ATOMIC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Component Library — Minimum Viable Set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small marketing team does not need forty components. It needs these, governed tightly.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0789920" cy="477316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Component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Token Rules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Primary CTA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Orange fill, white text, Space Grotesk SemiBold, 16px min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Secondary CTA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Indigo outline, Indigo text, transparent fill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H1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Space Grotesk Bold, 48–72px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H2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Space Grotesk SemiBold, 28–36px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Body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Plus Jakarta Sans Regular, 16–18px min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Proof Block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Claim + metric + source, fixed structure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Leadership card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Photo + name + role + one proof point — never a group photo substitute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Case study card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Client industry + challenge headline + one Proof Block + CTA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Atomic Design   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05 · ATOMIC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Derivation Discipline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new component must answer three questions before joining the library.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391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Which token does it use?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368296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And is that token already governed?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311810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Which component does it replace or extend?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44728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wasn't the existing one sufficient?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4197096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Can it be described in one sentence?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452628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it takes more than one sentence, it's actually two components pretending to be one — split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Atomic Design   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SUBSIDIARITY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file boundary is the escalation boundary.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Component-level decisions (does this button need a new state?) sit with whoever's building the page. Token-level decisions (new color, new font) escalate to the brand owner. This is what keeps the system fast and governed — most decisions never need to leave the builder's desk.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Atomic Design   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Typography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Three fonts. Three jobs. Zero overlap.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Typography System   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06 · TYPOGRAPHY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Three-Font Rule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single most common brand-compliance failure is fonts drifting between jobs.</a:t>
            </a:r>
            <a:endParaRPr lang="en-US" sz="13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082528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8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Font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Job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 Used For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Chillax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Logo wordmark only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Headings, body, decks — anywhere outside the locked logo file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Space Grotesk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Headings / display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Body copy, long-form text — fatigues the eye at paragraph length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Plus Jakarta Sans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Body copy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Headlines, display type — too neutral to carry brand presence at large sizes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Typography   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06 · TYPOGRAPHY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 Scale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Line height: 1.6 body, 1.15 headings.</a:t>
            </a:r>
            <a:endParaRPr 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0351008" cy="396849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Font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Weight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Web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Print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H1 / Display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Space Grotesk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Bold 700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48–72px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36pt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H2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Space Grotesk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SemiBold 600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28–36px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24pt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H3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Plus Jakarta Sans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ExtraBold 800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22–26px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18pt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Body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Plus Jakarta Sans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Regular 400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16–18px min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11pt min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Pull quotes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Plus Jakarta Sans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Medium 500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20–24px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16pt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Captions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Plus Jakarta Sans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Regular 400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13–14px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9pt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Typography   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06 · TYPOGRAPHY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/ Don't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78728" y="1572768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77393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739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34760" y="1773936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4760" y="17739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DON'T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58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258568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Load both fonts as web fonts with proper fallback stacks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0266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302666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body text at 16px minimum on every surface, no exceptions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79476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weight and size to create hierarchy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306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430682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Left-align body text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4760" y="2258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27368" y="2258568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Fall back silently to system fonts — Arial/Calibri substitution is a brand violation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4760" y="30266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27368" y="302666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Shrink body copy to fit a layout — resize the layout instead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476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7368" y="379476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color alone to create hierarchy (fails accessibility)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4760" y="45628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7368" y="4562856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Justify body text — creates uneven word-spacing “rivers”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Typography   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06 · TYPOGRAPHY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Numerals &amp; Metrics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addressed in the core BG — filling the gap, since metrics are central to Evidence-first voice.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391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Standalone large metrics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368296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Space Grotesk Bold — proof blocks, stat callouts. The geometric weight gives numbers visual authority distinct from body copy.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311810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Inline numbers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44728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 — switching fonts mid-sentence for a single digit is a common over-engineering mistake; don't do it.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4197096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monospace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452628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current system has no mono font — don't invent one under deadline pressure.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Typography   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MINIMUM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16px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 Text Minimum — No Exceptions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43891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16px web / 11pt print, enforced at the token level, not the reviewer level. Never rely on font-weight alone (bold vs. regular) to convey meaning for screen-reader users — pair with semantic HTML heading tags in every web build.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Typography   44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Accessibility Standards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is not a checkbox layered on the brand. It is brand architecture.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Standards   45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07 · ACCESSIBILITY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Contrast Ratios (WCAG 2.1)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Calculated directly from the core BG hex values — not estimated.</a:t>
            </a:r>
            <a:endParaRPr lang="en-US" sz="13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265408" cy="4352544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Pairing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Ratio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Normal Text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Large Text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Royal Indigo on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8.58:1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Dark Indigo on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15.28:1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Soft Black on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13.58:1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Vibrant Orange on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3.32:1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✗ Fail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Vibrant Orange on Soft Black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4.09:1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✗ Fail (marginal)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Vibrant Orange on Royal Indigo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2.59:1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✗ Fail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✗ Fail — never use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  46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LOAD-BEARING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3.32:1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Vibrant Orange on White — Fails Body Text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43891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Vibrant Orange is a large-scale, short-text-only color. It is the most energetic brand asset and the least accessible one — by the physics of the color itself, it is unsuitable for anything read at length. Reserve it for CTAs, large display numerals, and icon accents — never body copy, captions, or small UI text.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  47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07 · ACCESSIBILITY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Orange Is Allowed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78728" y="1572768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77393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739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34760" y="1773936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4760" y="17739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DON'T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58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258568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CTA buttons — short label, large type, 24px+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770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770632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 display numerals in proof blocks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2826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282696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Icon accents, dividers, underlines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379476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Logo, brand marks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4760" y="2258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27368" y="2258568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 copy, at any size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4760" y="2770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27368" y="2770632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labels, captions, legal / fine print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4760" y="32826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7368" y="3282696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 on Royal Indigo background — hard fail at any size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4760" y="40507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7368" y="4050792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Small UI text — form labels, error messages, table headers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  48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07 · ACCESSIBILITY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Standards Checklist</a:t>
            </a:r>
            <a:endParaRPr lang="en-US" sz="29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173968" cy="42428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9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Standard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Requirement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Ariviti Application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WCAG 2.1 AA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4.5:1 normal text, 3:1 large text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Indigo, Dark Indigo, or Soft Black for all body/UI text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Minimum font size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16px web / 11pt print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Enforced in Typography token set — no manual overrides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Alt text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Every image, descriptive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Format: [Subject] doing [action] — [context]. Ariviti brand photograph.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Keyboard navigation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All interactive elements reachable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Verify before every page launch — on the launch checklist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Video captions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All video content captioned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Human-reviewed before publishing, not auto-caption-only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Color-blind safety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Never color alone conveys meaning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Every status indicator pairs color with an icon or label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Data visualization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Max 3 colors per chart, always labeled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Orange + Indigo + Soft Black default palette, direct labels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  49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07 · ACCESSIBILITY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Fragility Score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Score each new asset 0 or 1 per item, out of 6. 5–6: ship it. 3–4: fix before distribution. 0–2: send it back.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39112"/>
            <a:ext cx="34725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" y="2240280"/>
            <a:ext cx="3070250" cy="256032"/>
          </a:xfrm>
          <a:prstGeom prst="roundRect">
            <a:avLst>
              <a:gd name="adj" fmla="val 21429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240280"/>
            <a:ext cx="3070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2606040"/>
            <a:ext cx="30702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3118104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Body/UI text meets 4.5:1 contrast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59554" y="2039112"/>
            <a:ext cx="34725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60722" y="2240280"/>
            <a:ext cx="3070250" cy="256032"/>
          </a:xfrm>
          <a:prstGeom prst="roundRect">
            <a:avLst>
              <a:gd name="adj" fmla="val 21429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60722" y="2240280"/>
            <a:ext cx="3070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60722" y="2606040"/>
            <a:ext cx="30702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0722" y="3118104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Orange-on-Indigo anywhere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52181" y="2039112"/>
            <a:ext cx="34725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53349" y="2240280"/>
            <a:ext cx="3070250" cy="256032"/>
          </a:xfrm>
          <a:prstGeom prst="roundRect">
            <a:avLst>
              <a:gd name="adj" fmla="val 21429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53349" y="2240280"/>
            <a:ext cx="3070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53349" y="2606040"/>
            <a:ext cx="30702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53349" y="3118104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image has real, non-generic alt text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66928" y="4690872"/>
            <a:ext cx="34725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8096" y="4892040"/>
            <a:ext cx="3070250" cy="256032"/>
          </a:xfrm>
          <a:prstGeom prst="roundRect">
            <a:avLst>
              <a:gd name="adj" fmla="val 21429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" y="4892040"/>
            <a:ext cx="3070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" y="5257800"/>
            <a:ext cx="30702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5769864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status/meaning indicator has a non-color cue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59554" y="4690872"/>
            <a:ext cx="34725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60722" y="4892040"/>
            <a:ext cx="3070250" cy="256032"/>
          </a:xfrm>
          <a:prstGeom prst="roundRect">
            <a:avLst>
              <a:gd name="adj" fmla="val 21429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60722" y="4892040"/>
            <a:ext cx="3070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60722" y="5257800"/>
            <a:ext cx="30702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60722" y="5769864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Font size ≥16px web / 11pt print, no exceptions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152181" y="4690872"/>
            <a:ext cx="34725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53349" y="4892040"/>
            <a:ext cx="3070250" cy="256032"/>
          </a:xfrm>
          <a:prstGeom prst="roundRect">
            <a:avLst>
              <a:gd name="adj" fmla="val 21429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53349" y="4892040"/>
            <a:ext cx="3070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53349" y="5257800"/>
            <a:ext cx="30702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53349" y="5769864"/>
            <a:ext cx="307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Chart/visualization uses ≤3 colors, all labeled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   50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Color Swatches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 specification, tints, pairing rules — verified, not eyeballed.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Swatches   51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08 · COLOR SWATCHES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Specification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18488"/>
            <a:ext cx="2006742" cy="2579522"/>
          </a:xfrm>
          <a:prstGeom prst="roundRect">
            <a:avLst>
              <a:gd name="adj" fmla="val 3645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4326026"/>
            <a:ext cx="1915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Vibrant Orange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481980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E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#FF4D1C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509412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255, 77, 28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5368442"/>
            <a:ext cx="1915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Primary — energy, momentum, action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829702" y="1618488"/>
            <a:ext cx="2006742" cy="2579522"/>
          </a:xfrm>
          <a:prstGeom prst="roundRect">
            <a:avLst>
              <a:gd name="adj" fmla="val 3645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75422" y="4326026"/>
            <a:ext cx="1915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Royal Indigo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75422" y="481980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E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#3B3EA9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75422" y="509412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59, 62, 169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75422" y="5368442"/>
            <a:ext cx="1915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Primary — trust, precision, technology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092476" y="1618488"/>
            <a:ext cx="2006742" cy="2579522"/>
          </a:xfrm>
          <a:prstGeom prst="roundRect">
            <a:avLst>
              <a:gd name="adj" fmla="val 3645"/>
            </a:avLst>
          </a:prstGeom>
          <a:solidFill>
            <a:srgbClr val="1E1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38196" y="4326026"/>
            <a:ext cx="1915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Dark Indigo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38196" y="481980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E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#1E1669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38196" y="509412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30, 22, 105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38196" y="5368442"/>
            <a:ext cx="1915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Depth variant — headers on light, dark backgrounds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355251" y="1618488"/>
            <a:ext cx="2006742" cy="2579522"/>
          </a:xfrm>
          <a:prstGeom prst="roundRect">
            <a:avLst>
              <a:gd name="adj" fmla="val 3645"/>
            </a:avLst>
          </a:prstGeom>
          <a:solidFill>
            <a:srgbClr val="2E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0971" y="4326026"/>
            <a:ext cx="1915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 Black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0971" y="481980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E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#2E2E2E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0971" y="509412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46, 46, 46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0971" y="5368442"/>
            <a:ext cx="1915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Anchor — never pure #000000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618025" y="1618488"/>
            <a:ext cx="2006742" cy="2579522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12700">
            <a:solidFill>
              <a:srgbClr val="E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63745" y="4326026"/>
            <a:ext cx="1915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63745" y="481980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E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#FFFFFF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63745" y="5094122"/>
            <a:ext cx="1915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255, 255, 255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63745" y="5368442"/>
            <a:ext cx="1915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Secondary — clarity, space, focus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Swatches   52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08 · COLOR SWATCHES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Usage Ratio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Default page composition — not specified numerically in the core BG, added for consistency.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39112"/>
            <a:ext cx="534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White / near-white — 65–75%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368296"/>
            <a:ext cx="534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“clarity” pillar made literal.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3118104"/>
            <a:ext cx="534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Royal Indigo — 15–25%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447288"/>
            <a:ext cx="534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Headers, primary text, structural elements.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78728" y="2039112"/>
            <a:ext cx="534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Vibrant Orange — 5–10%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78728" y="2368296"/>
            <a:ext cx="534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CTAs and accents only, never a dominant field color.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78728" y="3118104"/>
            <a:ext cx="534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 Black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78728" y="3447288"/>
            <a:ext cx="534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 text and fine structural lines.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Swatches   53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08 · COLOR SWATCHES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Tints &amp; Shades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Generated programmatically for UI states — hover, disabled, background fields.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39112"/>
            <a:ext cx="2834640" cy="365760"/>
          </a:xfrm>
          <a:prstGeom prst="rect">
            <a:avLst/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01568" y="2039112"/>
            <a:ext cx="2148840" cy="365760"/>
          </a:xfrm>
          <a:prstGeom prst="rect">
            <a:avLst/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20391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50408" y="2039112"/>
            <a:ext cx="2148840" cy="365760"/>
          </a:xfrm>
          <a:prstGeom prst="rect">
            <a:avLst/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23560" y="20391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20% Tint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99248" y="2039112"/>
            <a:ext cx="2148840" cy="365760"/>
          </a:xfrm>
          <a:prstGeom prst="rect">
            <a:avLst/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0" y="20391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50% Tint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48088" y="2039112"/>
            <a:ext cx="1929384" cy="365760"/>
          </a:xfrm>
          <a:prstGeom prst="rect">
            <a:avLst/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21240" y="20391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80% Shade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404872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Royal Indigo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01568" y="2404872"/>
            <a:ext cx="2148840" cy="777240"/>
          </a:xfrm>
          <a:prstGeom prst="rect">
            <a:avLst/>
          </a:prstGeom>
          <a:solidFill>
            <a:srgbClr val="3B3EA9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93008" y="24048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#3B3EA9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50408" y="2404872"/>
            <a:ext cx="2148840" cy="777240"/>
          </a:xfrm>
          <a:prstGeom prst="rect">
            <a:avLst/>
          </a:prstGeom>
          <a:solidFill>
            <a:srgbClr val="D4D5F0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41848" y="24048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#D4D5F0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99248" y="2404872"/>
            <a:ext cx="2148840" cy="777240"/>
          </a:xfrm>
          <a:prstGeom prst="rect">
            <a:avLst/>
          </a:prstGeom>
          <a:solidFill>
            <a:srgbClr val="9D9FD4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90688" y="24048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#9D9FD4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48088" y="2404872"/>
            <a:ext cx="1929384" cy="777240"/>
          </a:xfrm>
          <a:prstGeom prst="rect">
            <a:avLst/>
          </a:prstGeom>
          <a:solidFill>
            <a:srgbClr val="0C0D22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39528" y="2404872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#0C0D22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182112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31821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Vibrant Orange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01568" y="3182112"/>
            <a:ext cx="2148840" cy="777240"/>
          </a:xfrm>
          <a:prstGeom prst="rect">
            <a:avLst/>
          </a:prstGeom>
          <a:solidFill>
            <a:srgbClr val="FF4D1C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93008" y="318211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#FF4D1C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50408" y="3182112"/>
            <a:ext cx="2148840" cy="777240"/>
          </a:xfrm>
          <a:prstGeom prst="rect">
            <a:avLst/>
          </a:prstGeom>
          <a:solidFill>
            <a:srgbClr val="FFE0D3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41848" y="318211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#FFE0D3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99248" y="3182112"/>
            <a:ext cx="2148840" cy="777240"/>
          </a:xfrm>
          <a:prstGeom prst="rect">
            <a:avLst/>
          </a:prstGeom>
          <a:solidFill>
            <a:srgbClr val="FFA687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90688" y="318211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#FFA687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848088" y="3182112"/>
            <a:ext cx="1929384" cy="777240"/>
          </a:xfrm>
          <a:prstGeom prst="rect">
            <a:avLst/>
          </a:prstGeom>
          <a:solidFill>
            <a:srgbClr val="331000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39528" y="3182112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#331000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3959352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" y="39593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Soft Black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01568" y="3959352"/>
            <a:ext cx="2148840" cy="777240"/>
          </a:xfrm>
          <a:prstGeom prst="rect">
            <a:avLst/>
          </a:prstGeom>
          <a:solidFill>
            <a:srgbClr val="2E2E2E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93008" y="395935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#2E2E2E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50408" y="3959352"/>
            <a:ext cx="2148840" cy="777240"/>
          </a:xfrm>
          <a:prstGeom prst="rect">
            <a:avLst/>
          </a:prstGeom>
          <a:solidFill>
            <a:srgbClr val="E9E9E9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41848" y="395935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#E9E9E9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99248" y="3959352"/>
            <a:ext cx="2148840" cy="777240"/>
          </a:xfrm>
          <a:prstGeom prst="rect">
            <a:avLst/>
          </a:prstGeom>
          <a:solidFill>
            <a:srgbClr val="979797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790688" y="395935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#979797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848088" y="3959352"/>
            <a:ext cx="1929384" cy="777240"/>
          </a:xfrm>
          <a:prstGeom prst="rect">
            <a:avLst/>
          </a:prstGeom>
          <a:solidFill>
            <a:srgbClr val="090909"/>
          </a:solidFill>
          <a:ln w="9525">
            <a:solidFill>
              <a:srgbClr val="EA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939528" y="3959352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#090909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Swatches   54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08 · COLOR SWATCHES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Pairing Matrix</a:t>
            </a:r>
            <a:endParaRPr lang="en-US" sz="2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265408" cy="424281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6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Combination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Verdict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 Case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Indigo text on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Excellent (8.58:1)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Default body/heading pairing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Soft Black text on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Excellent (13.58:1)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Long-form body copy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White text on Indigo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Excellent (8.58:1)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Dark section headers, dividers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White text on Soft Black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Excellent (13.58:1)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Footers, dark UI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Orange CTA (white text) on White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 Pass at 24px+ only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Primary buttons — large label required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Orange on Indigo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✗ Never (2.59:1)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Forbidden in any context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Orange as small text/icon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✗ Avoid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Reserve for large-scale, short elements only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Swatches   55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08 · COLOR SWATCHES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Gradients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core BG's Don'ts page prohibits gradients on the logo mark — it does not authorize free gradient use elsewhere.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78728" y="1993392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34760" y="21945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4760" y="2194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DON'T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679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679192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a gradient background is needed, use Royal Indigo → Dark Indigo → Soft Black only, diagonal, subtle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70332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Match the agency's own cover treatment when in doubt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4760" y="2679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27368" y="2679192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Introduce Orange into any gradient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4760" y="3191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27368" y="3191256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Let anyone outside the brand owner originate a new gradient direction without sign-off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Swatches   56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08 · COLOR SWATCHES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 Formats to Maintain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minimum viable, low-maintenance asset kit.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391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.ase (Adobe Swatch Exchange)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368296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 Illustrator, Photoshop, InDesign.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311810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CSS custom properties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44728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--ariviti-orange: #FF4D1C; etc. — for all web/product work.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4197096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Figma shared color styles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452628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Published from one source library — never recreated per file.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Swatches   57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 Signatures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Seen more often than almost any other brand asset — and the easiest to let drift.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Signatures   58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09 · EMAIL SIGNATURES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 Template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Lock the template, not the person's willingness to comply.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64008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404872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9928" y="23591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E2E"/>
                </a:solidFill>
                <a:latin typeface="Plus Jakarta Sans" pitchFamily="2" charset="0"/>
                <a:ea typeface="Space Grotesk" pitchFamily="34" charset="-122"/>
                <a:cs typeface="Plus Jakarta Sans" pitchFamily="2" charset="0"/>
              </a:rPr>
              <a:t>Sridhar Karra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09928" y="2688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EA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Sr. VP &amp; Chief Operating Officer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09928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EA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ariviti.com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32688" y="3474720"/>
            <a:ext cx="5669280" cy="0"/>
          </a:xfrm>
          <a:prstGeom prst="line">
            <a:avLst/>
          </a:prstGeom>
          <a:noFill/>
          <a:ln w="12700">
            <a:solidFill>
              <a:srgbClr val="E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3593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Intelligence Amplified.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33488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33488" y="24323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 only — Space Grotesk and Chillax don't render reliably across email clients.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33488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33488" y="343814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 in Soft Black. Role and links in Royal Indigo. No Orange — fails contrast at signature scale.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Signatures   59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09 · EMAIL SIGNATURES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/ Don't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78728" y="1572768"/>
            <a:ext cx="534604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77393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739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34760" y="1773936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4760" y="17739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DON'T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58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258568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the symbol icon only (32px), never the full lockup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0266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302666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web-safe fallback fonts (Arial, sans-serif) for reliable rendering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79476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it to 4 lines maximum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306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430682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Update centrally and redistribute via IT / Workspace policy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4760" y="2258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27368" y="2258568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Embed the full-color primary lockup as a large banner image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4760" y="30266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27368" y="3026664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Rely on custom fonts rendering correctly across all mail clients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476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7368" y="379476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quotes, social icons, or promotional banners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4760" y="45628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7368" y="4562856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Let each employee hand-edit their own signature file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Signatures   60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NO CAMPAIGN BANNERS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Signatures are infrastructure, not marketing real estate.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“temporary” campaign banner in a signature outlives the campaign by months and becomes a compliance debt. If a campaign needs promotion, it goes in the newsletter or LinkedIn — never the signature.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Signatures   61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09 · EMAIL SIGNATURES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1848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owner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94767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person owns the signature template (see the Implementation decision-rights table).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Central distribution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3026664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Updates ship as a single distributed file or workspace policy push — never a “please update your signature” email half the team ignores.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Signatures   62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Templates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are how two people do the work of ten.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  63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10 · TEMPLATES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GEO-Ready Content Block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LLM/AI-search citation rewards exactly this structure: named claims, sourced evidence, specific outcomes.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39112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166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359152"/>
            <a:ext cx="103263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Specific, quotable claim as a heading 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907792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One-sentence direct answer — the sentence an LLM would lift verbatim.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2688" y="3685032"/>
            <a:ext cx="10326319" cy="0"/>
          </a:xfrm>
          <a:prstGeom prst="line">
            <a:avLst/>
          </a:prstGeom>
          <a:noFill/>
          <a:ln w="12700">
            <a:solidFill>
              <a:srgbClr val="E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39136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3E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Evidence: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32888" y="3913632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Metric, source, baseline, 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43708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3E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32888" y="4370832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2–3 sentences of specifics — industry, scale, constraint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4828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3E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Attribution: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4828032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Named person or team, role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  64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10 · TEMPLATES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Study Template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7543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876806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187680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· HERO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58568" y="1645920"/>
            <a:ext cx="913759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industry + one-line outcome headline (no company name if confidential)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9848" y="23637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46604"/>
            <a:ext cx="11057839" cy="7543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77749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" y="277749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· CHALLENGE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58568" y="2546604"/>
            <a:ext cx="913759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2–3 sentences, specific and quantified where possible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3264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57839" cy="7543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6384" y="3678174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" y="367817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· APPROACH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58568" y="3447288"/>
            <a:ext cx="913759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Ariviti actually did, named clearly — no vague “we partnered to…”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848" y="41650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347972"/>
            <a:ext cx="11057839" cy="7543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6384" y="457885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" y="457885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· PROOF BLOCK(S)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58568" y="4347972"/>
            <a:ext cx="913759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Minimum 1, ideally 2–3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" y="50657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248656"/>
            <a:ext cx="11057839" cy="7543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6384" y="5479542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6384" y="547954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· RESULT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58568" y="5248656"/>
            <a:ext cx="913759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Outcome in the client's terms, not Ariviti's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9848" y="59664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6149340"/>
            <a:ext cx="11057839" cy="7543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6384" y="6380226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6384" y="638022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 · CTA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58568" y="6149340"/>
            <a:ext cx="913759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Single next step, Orange button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  65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10 · TEMPLATES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One-Pager / Sales Sheet Template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1848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Header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94767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Symbol + wordmark top-left; contact CTA top-right.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3026664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outcome-focused headline, Space Grotesk H1.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377647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Body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4105656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proof blocks max, laid out horizontally.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485546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Footer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518464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“Intelligence Amplified.” + contact. Rule: a one-pager that needs a second page has failed the Clarity pillar — cut, don't extend.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  66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10 · TEMPLATES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Deck Template — Minimum Structure</a:t>
            </a:r>
            <a:endParaRPr lang="en-US" sz="29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173968" cy="395020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Slide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Purpose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Typography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Cover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Wordmark + one-line positioning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Space Grotesk Bold, Indigo gradient background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Problem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Named, quantified, no Ariviti branding yet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Plus Jakarta Sans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Approach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What Ariviti does, specifically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Space Grotesk H2 + body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Proof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 proof block per slide, never more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Bold metric, sourced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Close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 CTA, contact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Orange CTA button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  67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10 · TEMPLATES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LinkedIn Post Template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1848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Hook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94767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Evidence-first, one line, no preamble.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3026664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2–3 short declarative sentences — the story, not the pitch.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377647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 point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4105656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applicable.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485546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 CTA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518464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question or invitation, not “learn more.” Never more than one emoji, and only at the very end if used at 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  68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ABOUT / LEADERSHIP PAGE TEMPLATE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Photo + Name + Role, then a 2–3 sentence bio with one specific credential.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this template exists: the current About page has no named leadership — this directly undercuts Human-led as a brand trait and removes a GEO-citable structure. Named-person + credential is exactly what LLMs surface for “who runs Ariviti” style queries.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  69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template lives as a locked file — not a ‘here's an example from last time’ copy-paste chain.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team members and external agencies start from the locked file, always.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Templates   70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&amp; Governance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the system stays alive with a small team.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&amp; Governance   71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11 ·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 Rights — Subsidiarity in Practice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Decide at the lowest level competent to decide; escalate only what's irreversible or system-wide.</a:t>
            </a:r>
            <a:endParaRPr lang="en-US" sz="13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0351008" cy="435254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Decision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Who Decides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Escalates To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Copy edits within voice/vocabulary rules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Content creator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escalation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New component (button state, card variant)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Designer/builder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Brand owner (async review)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New color, new font, tagline change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—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CEO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Logo modification of any kind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—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CEO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Case study / metric publication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Content creator drafts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Delivery team confirms accuracy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External agency brand compliance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Agency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Brand owner, pre-work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  72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11 ·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Approval Pipeline — Async by Default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1204722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2101977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2101977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58568" y="1645920"/>
            <a:ext cx="9137599" cy="1204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Draft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9848" y="281406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996946"/>
            <a:ext cx="11057839" cy="1204722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3453003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" y="3453003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58568" y="2996946"/>
            <a:ext cx="9137599" cy="1204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Self-check against the Never List + Fragility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41650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347972"/>
            <a:ext cx="11057839" cy="1204722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6384" y="4804029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B3E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" y="4804029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58568" y="4347972"/>
            <a:ext cx="9137599" cy="1204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Async review — 24-hour SLA, comment thread, not a meeting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848" y="551611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698998"/>
            <a:ext cx="11057839" cy="1204722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6384" y="6155055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4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" y="6155055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58568" y="5698998"/>
            <a:ext cx="9137599" cy="1204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Publish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  73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11 ·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Quantify Fragility — The Brand Health Scorecard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gets measured gets protected — but only if the metric is quantified, not vibes-based.</a:t>
            </a:r>
            <a:endParaRPr lang="en-US" sz="13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0351008" cy="43525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Metric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Method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Fragility If Ignored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LLM/GEO citation rate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Ask ChatGPT/Perplexity/Google AI quarterly; count citations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Currently near-zero due to empty Insights section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Named leadership presence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Count named, bio'd leaders on About page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Currently zero — undercuts Human-led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Case study depth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Count published case studies with full Proof Block structure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Every unpublished engagement is a missed trust asset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Contrast compliance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Run Fragility Score on 5 random assets/quarter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Orange misuse is the most common failure mode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Voice compliance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Brand owner reviews 10 random assets/quarter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Drift compounds silently if unchecked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Visual recognition (blind test)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Strip logo from 5 assets, test with 5 ICP profiles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Tests whether the system — not just the logo — recognizes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  74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11 ·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Three Structural Risks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the last site audit — resolved here as governance items, not one-off fixes.</a:t>
            </a:r>
            <a:endParaRPr lang="en-US" sz="13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0351008" cy="3840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Risk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Root Cause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Governance Fix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Meta-keywords carrying irrelevant taxonomy site-wide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owner for technical SEO hygiene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Assign explicit ownership; add to quarterly audit checklist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Platform-forward site vs. services-dominant revenue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nav/IA governance tying structure to revenue mix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Nav architecture reviewed annually against actual revenue split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Thin case studies, empty Insights, unnamed leadership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content cadence or template enforcement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Templates + GEO-Ready Content Block as default, cadence tracked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  75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11 ·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 Control</a:t>
            </a:r>
            <a:endParaRPr lang="en-US" sz="29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0789920" cy="32918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Element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Rule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Guidelines versioning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This annexure set versions alongside the core BG; cite the core BG version in every annexure header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Asset library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 source of truth (Drive/Figma/Notion — pick one, not three)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log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Every material change logged with date, author, reason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  76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11 ·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Onboarding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1848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Single-session walkthrough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94767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person producing external content — internal or agency — completes one session covering: Voice/Vocabulary Never List, Logo Don'ts, Accessibility Fragility Score, and the Decision Rights Table.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Under 60 minutes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3026664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Anything longer means the guidelines are too complex for a small team to actually run 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4D1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logo_symbol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B6B6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  77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brand system a small team can't operate without constant senior review isn't a system — it's a bottleneck wearing a style guide's clothes.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rule in this annexure set is written to be self-enforcing: templates that make compliance the default, a scorecard that makes fragility visible, and a decision-rights table that makes escalation the exception, not the norm.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logo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  78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ordma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48" y="2880360"/>
            <a:ext cx="274320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7D8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Intelligence Amplified.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981048" y="6537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CD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Questions on any annexure route to the brand owner before external distribution.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7242048"/>
            <a:ext cx="11057839" cy="823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assets/logo_symbo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731520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 ·  BRAND SYSTEM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67167" y="7306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7C9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End of Document   79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6511</Words>
  <Application>Microsoft Office PowerPoint</Application>
  <PresentationFormat>Custom</PresentationFormat>
  <Paragraphs>1183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3" baseType="lpstr">
      <vt:lpstr>Arial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Ariviti Brand System — Annexure Set</dc:title>
  <dc:subject>Logo, Voice, Photography, Design Philosophy, Atomic Design, Typography, Accessibility, Color, Email Signatures, Templates, Implementation</dc:subject>
  <dc:creator>Ariviti Marketing</dc:creator>
  <cp:lastModifiedBy>Anilyzed</cp:lastModifiedBy>
  <cp:revision>1</cp:revision>
  <dcterms:created xsi:type="dcterms:W3CDTF">2026-08-13T05:47:12Z</dcterms:created>
  <dcterms:modified xsi:type="dcterms:W3CDTF">2026-08-13T11:34:20Z</dcterms:modified>
</cp:coreProperties>
</file>